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7664" y="914400"/>
            <a:ext cx="1097280" cy="10972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01442"/>
                </a:solidFill>
                <a:latin typeface="Calibri"/>
              </a:rPr>
              <a:t>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Capital University Student Portal</a:t>
            </a:r>
          </a:p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1900" b="0" i="1">
                <a:solidFill>
                  <a:srgbClr val="C9A84C"/>
                </a:solidFill>
                <a:latin typeface="Calibri"/>
              </a:rPr>
              <a:t>A Modular Enterprise Platform for Managing the Academic Lifecycle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C9A84C"/>
                </a:solidFill>
                <a:latin typeface="Calibri"/>
              </a:rPr>
              <a:t>━━━━━━━━━━━━━━━━━━━━━━━━━━━━━━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9439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Graduation Project — Faculty of Computer Science &amp; Engineering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EF"/>
                </a:solidFill>
                <a:latin typeface="Calibri"/>
              </a:rPr>
              <a:t>Presented by: [Student Name]      Supervised by: [Supervisor Name]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5DBEF"/>
                </a:solidFill>
                <a:latin typeface="Calibri"/>
              </a:rPr>
              <a:t>Academic Year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901952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Introduction &amp; 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Domain context, gaps, and project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017520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443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Related Work &amp; Literature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Commercial SIS, LMS platforms, and academic positioning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413308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59936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System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Modular monolith, clean architecture, and layering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5248656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175504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Backend Design &amp; Patterns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CQRS, outbox, DAG validation, materialized path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901952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Authorization &amp; Security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Scope-first RBAC/ABAC hybrid authorization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3017520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443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Synchronization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Bidirectional sync with checkpoints and resilience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413308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059936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Frontend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React 19, module federation, state management, i18n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5248656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175504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Evaluation &amp; 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Testing, results, limitations, and future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61264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Context</a:t>
            </a:r>
            <a:r>
              <a:rPr sz="1500" b="1">
                <a:solidFill>
                  <a:srgbClr val="232638"/>
                </a:solidFill>
                <a:latin typeface="Calibri"/>
              </a:rPr>
              <a:t>▸  Domain.</a:t>
            </a:r>
            <a:r>
              <a:rPr sz="1500">
                <a:solidFill>
                  <a:srgbClr val="232638"/>
                </a:solidFill>
                <a:latin typeface="Calibri"/>
              </a:rPr>
              <a:t> Universities coordinate a complex academic lifecycle: admission, course registration, scheduling, grading, fee collection, and student services across multiple organizational units.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232638"/>
                </a:solidFill>
                <a:latin typeface="Calibri"/>
              </a:rPr>
              <a:t>▸  Stakeholders.</a:t>
            </a:r>
            <a:r>
              <a:rPr sz="1500">
                <a:solidFill>
                  <a:srgbClr val="232638"/>
                </a:solidFill>
                <a:latin typeface="Calibri"/>
              </a:rPr>
              <a:t> Students, instructors, student-affairs staff, and administrators each require distinct views and authority over shared institutional data.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232638"/>
                </a:solidFill>
                <a:latin typeface="Calibri"/>
              </a:rPr>
              <a:t>▸  Goal.</a:t>
            </a:r>
            <a:r>
              <a:rPr sz="1500">
                <a:solidFill>
                  <a:srgbClr val="232638"/>
                </a:solidFill>
                <a:latin typeface="Calibri"/>
              </a:rPr>
              <a:t> Deliver a single bilingual web platform with two coordinated portals — administrative and student-facing — backed by a unified domain model.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232638"/>
                </a:solidFill>
                <a:latin typeface="Calibri"/>
              </a:rPr>
              <a:t>▸  Approach.</a:t>
            </a:r>
            <a:r>
              <a:rPr sz="1500">
                <a:solidFill>
                  <a:srgbClr val="232638"/>
                </a:solidFill>
                <a:latin typeface="Calibri"/>
              </a:rPr>
              <a:t> A modular monolith (.NET 9 Clean Architecture) exposing a REST API to a modular React 19 single-page application, synchronized with the university's existing Student Information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8745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Coordinated portals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Administrative &amp; student-facing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39319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User roles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Admin, affairs, instructor, 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745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Languages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Arabic &amp; English, full RTL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39319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Domain modules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Plug-in backend features with isolated concerns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Gaps in Current Systems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▸  Academic operations are spread across disconnected tools: spreadsheets, a legacy SIS, and paper-based service requests, creating data silos and process fragmentation.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▸  Access control is coarse — role labels cannot express scope: which faculty, department, or semester a staff member may act on.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▸  Student services (transcripts, certificates, payments) require in-person visits and manual reconciliation with the treasury.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▸  Any replacement must coexist with the official SIS, which remains the institutional source of truth — requiring a synchronization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83080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27648" y="2029968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1929384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Fragmentation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No single system covers the full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898648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27648" y="3145536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3044952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Coarse access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Roles without structural or temporal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14216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4261104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416052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Manual workflows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Paper requests, queues, hand reconciliation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129784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5376672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5276088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Data drift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Portal and SIS records diverge over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Project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92938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7451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Provide a unified web platform covering the academic lifecycle end-to-end: structure, calendar, courses, registration, grades, fees, and student services.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39242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3755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Design a fine-grained authorization model combining roles with structural and temporal scope — extending RBAC with attribute-based constraints (RBAC + ABAC).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485546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0059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Adopt a modular architecture where domain features are independent plug-in modules with their own permissions, validators, and persistence mappings.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192938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1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Implement reliable bidirectional synchronization with the university's existing SIS using checkpoints, retry semantics, and an auditable pipeline.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339242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33755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Deliver a bilingual Arabic/English user experience with complete right-to-left layout support via CSS logical properties.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485546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80059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Enforce quality through layered automated testing, including architecture dependency tests that verify modular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Related Work &amp; 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611880" cy="36576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5468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Commercial SIS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Ellucian Banner, Oracle PeopleSoft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Comprehensive administrative lifecycle coverage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High licensing and customization costs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Rigid data models; weak Arabic/RTL support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Vendor lock-in; slow to adapt to local regulations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1" y="1783080"/>
            <a:ext cx="3611880" cy="36576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1" y="2011680"/>
            <a:ext cx="315468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Learning Platforms (LMS)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Moodle, Canvas, Blackboard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Strong course-delivery and assessment features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Course-centric — not designed for admin lifecycle, fees, or organizational structure management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Limited fine-grained administrative authorization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No synchronization with external 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2" y="1783080"/>
            <a:ext cx="3611880" cy="36576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67342" y="2011680"/>
            <a:ext cx="315468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In-House Legacy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Custom institutional builds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Tailored to local regulations and workflows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Often monolithic, tightly coupled codebases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Difficult to extend; minimal automated testing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▸  High maintenance burden with staff turnover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623560"/>
            <a:ext cx="11000232" cy="100584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Project Positioning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32638"/>
                </a:solidFill>
                <a:latin typeface="Calibri"/>
              </a:rPr>
              <a:t>This project targets the intersection: lifecycle coverage of a commercial SIS, extensibility of a modular platform, and scope-aware authorization — while coexisting with the institutional SIS rather than replacing it. Novel contributions include a scope-first authorization model and a checkpointed bidirectional sync engine.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6035040" cy="749808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Presentation Layer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React 19 SPA · Module-Federated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5160" y="1874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178"/>
                </a:solidFill>
                <a:latin typeface="Calibri"/>
              </a:rPr>
              <a:t>Administrative portal · Student portal · i18n (AR/EN) · 17 feature modules</a:t>
            </a:r>
          </a:p>
        </p:txBody>
      </p:sp>
      <p:sp>
        <p:nvSpPr>
          <p:cNvPr id="6" name="Down Arrow 5"/>
          <p:cNvSpPr/>
          <p:nvPr/>
        </p:nvSpPr>
        <p:spPr>
          <a:xfrm>
            <a:off x="3694176" y="2542032"/>
            <a:ext cx="292608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6035040" cy="74980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A1F5E"/>
                </a:solidFill>
                <a:latin typeface="Calibri"/>
              </a:rPr>
              <a:t>API Gateway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ASP.NET Core 9 ·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7889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178"/>
                </a:solidFill>
                <a:latin typeface="Calibri"/>
              </a:rPr>
              <a:t>28 controllers · JWT Bearer auth · Scope-resolving middleware pipeline</a:t>
            </a:r>
          </a:p>
        </p:txBody>
      </p:sp>
      <p:sp>
        <p:nvSpPr>
          <p:cNvPr id="9" name="Down Arrow 8"/>
          <p:cNvSpPr/>
          <p:nvPr/>
        </p:nvSpPr>
        <p:spPr>
          <a:xfrm>
            <a:off x="3694176" y="3456432"/>
            <a:ext cx="292608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6035040" cy="74980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A1F5E"/>
                </a:solidFill>
                <a:latin typeface="Calibri"/>
              </a:rPr>
              <a:t>Application Core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CQRS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178"/>
                </a:solidFill>
                <a:latin typeface="Calibri"/>
              </a:rPr>
              <a:t>7 plug-in domain modules · Permission manifests · FluentValidation · Outbox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94176" y="4370832"/>
            <a:ext cx="292608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6035040" cy="74980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A1F5E"/>
                </a:solidFill>
                <a:latin typeface="Calibri"/>
              </a:rPr>
              <a:t>Infrastructure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EF Core 9 · Redis · SignalR · Hangfire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178"/>
                </a:solidFill>
                <a:latin typeface="Calibri"/>
              </a:rPr>
              <a:t>SQL Server provider · Distributed caching · Real-time hubs · Background jobs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694176" y="5285232"/>
            <a:ext cx="292608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440680"/>
            <a:ext cx="6035040" cy="749808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 Layer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SQL Server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178"/>
                </a:solidFill>
                <a:latin typeface="Calibri"/>
              </a:rPr>
              <a:t>Single relational store · Soft-delete filters · MongoDB (audit logs)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65960"/>
            <a:ext cx="2468880" cy="164592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Synchronization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mbria"/>
              </a:rPr>
              <a:t>Platform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01442"/>
                </a:solidFill>
                <a:latin typeface="Calibri"/>
              </a:rPr>
              <a:t>Hangfire jobs · 6 sync modules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01442"/>
                </a:solidFill>
                <a:latin typeface="Calibri"/>
              </a:rPr>
              <a:t>Checkpoints · Retries ·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251960"/>
            <a:ext cx="2468880" cy="914400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External University SIS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5DBEF"/>
                </a:solidFill>
                <a:latin typeface="Calibri"/>
              </a:rPr>
              <a:t>Source of Truth</a:t>
            </a:r>
          </a:p>
        </p:txBody>
      </p:sp>
      <p:sp>
        <p:nvSpPr>
          <p:cNvPr id="20" name="Up-Down Arrow 19"/>
          <p:cNvSpPr/>
          <p:nvPr/>
        </p:nvSpPr>
        <p:spPr>
          <a:xfrm>
            <a:off x="10268712" y="3703320"/>
            <a:ext cx="219456" cy="502920"/>
          </a:xfrm>
          <a:prstGeom prst="up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-Right Arrow 20"/>
          <p:cNvSpPr/>
          <p:nvPr/>
        </p:nvSpPr>
        <p:spPr>
          <a:xfrm>
            <a:off x="6995160" y="2651760"/>
            <a:ext cx="2011680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3492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C6178"/>
                </a:solidFill>
                <a:latin typeface="Calibri"/>
              </a:rPr>
              <a:t>Bidirectional sync reconciles portal data with the institutional SIS on scheduled jobs with checkpoint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Backend: Modular Monolith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9893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Architecture Overview</a:t>
            </a:r>
            <a:r>
              <a:rPr sz="1400" b="1">
                <a:solidFill>
                  <a:srgbClr val="232638"/>
                </a:solidFill>
                <a:latin typeface="Calibri"/>
              </a:rPr>
              <a:t>▸  Layered solution.</a:t>
            </a:r>
            <a:r>
              <a:rPr sz="1400">
                <a:solidFill>
                  <a:srgbClr val="232638"/>
                </a:solidFill>
                <a:latin typeface="Calibri"/>
              </a:rPr>
              <a:t> 30 projects across API host, Core (Abstractions / Domain / Application / Infrastructure), SharedKernel, 7 plug-in Modules, and a parallel Sync platform.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▸  Plug-in registration.</a:t>
            </a:r>
            <a:r>
              <a:rPr sz="1400">
                <a:solidFill>
                  <a:srgbClr val="232638"/>
                </a:solidFill>
                <a:latin typeface="Calibri"/>
              </a:rPr>
              <a:t> Each module exposes Add&lt;Module&gt;Module() extension methods that register services, repositories, EF configurations, and permission manifests into the host DI container.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▸  Persistence injection.</a:t>
            </a:r>
            <a:r>
              <a:rPr sz="1400">
                <a:solidFill>
                  <a:srgbClr val="232638"/>
                </a:solidFill>
                <a:latin typeface="Calibri"/>
              </a:rPr>
              <a:t> Modules contribute EF Core entity configurations via assembly scanning into the shared CoreDbContext — no core project changes needed to add a module.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▸  Outbox for eventual consistency.</a:t>
            </a:r>
            <a:r>
              <a:rPr sz="1400">
                <a:solidFill>
                  <a:srgbClr val="232638"/>
                </a:solidFill>
                <a:latin typeface="Calibri"/>
              </a:rPr>
              <a:t> Domain events are persisted transactionally and dispatched by a background processor with lease-based horizontal scaling.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▸  Single deployable.</a:t>
            </a:r>
            <a:r>
              <a:rPr sz="1400">
                <a:solidFill>
                  <a:srgbClr val="232638"/>
                </a:solidFill>
                <a:latin typeface="Calibri"/>
              </a:rPr>
              <a:t> Module boundaries give microservice-style separation without distributed-system operational cost — a deliberate tradeoff validated by architecture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Plug-in Domain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240280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27685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Student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Profile records, student info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807208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8437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Course enrollment (read-only from sync)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374136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410712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Course Offering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Offering lifecycle, capacity, scheduling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941064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977640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Academic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Grades and transcripts (read-only)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07992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544568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Schedule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Schedule slots and matrix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511149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Payments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Treasury, fees, orders, receipts, reconciliation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641848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567842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5E"/>
                </a:solidFill>
                <a:latin typeface="Calibri"/>
              </a:rPr>
              <a:t>Student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178"/>
                </a:solidFill>
                <a:latin typeface="Calibri"/>
              </a:rPr>
              <a:t>Service requests, ticketing, SignalR 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CQRS Pattern &amp; Application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Command-Query Responsibility Segregation</a:t>
            </a:r>
            <a:r>
              <a:rPr sz="1350" b="1">
                <a:solidFill>
                  <a:srgbClr val="232638"/>
                </a:solidFill>
                <a:latin typeface="Calibri"/>
              </a:rPr>
              <a:t>▸  Commands.</a:t>
            </a:r>
            <a:r>
              <a:rPr sz="1350">
                <a:solidFill>
                  <a:srgbClr val="232638"/>
                </a:solidFill>
                <a:latin typeface="Calibri"/>
              </a:rPr>
              <a:t> Imperative operations that change state — CreateRole, RegisterCourse, SubmitPayment — implemented as isolated handler classes with FluentValidation at the boundary.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Queries.</a:t>
            </a:r>
            <a:r>
              <a:rPr sz="1350">
                <a:solidFill>
                  <a:srgbClr val="232638"/>
                </a:solidFill>
                <a:latin typeface="Calibri"/>
              </a:rPr>
              <a:t> Read-only operations returning DTOs — GetStudentGrades, GetCourseCatalog — bypassing domain logic for optimal read paths.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Validation pipeline.</a:t>
            </a:r>
            <a:r>
              <a:rPr sz="1350">
                <a:solidFill>
                  <a:srgbClr val="232638"/>
                </a:solidFill>
                <a:latin typeface="Calibri"/>
              </a:rPr>
              <a:t> Each command handler invokes FluentValidation validators before execution; model state auto-validation is suppressed in favor of explicit domain-level validation.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No MediatR dependency.</a:t>
            </a:r>
            <a:r>
              <a:rPr sz="1350">
                <a:solidFill>
                  <a:srgbClr val="232638"/>
                </a:solidFill>
                <a:latin typeface="Calibri"/>
              </a:rPr>
              <a:t> Handlers are plain classes registered directly in DI and injected into controllers — avoiding framework coupling while maintaining separation of concerns.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Domain exception hierarchy.</a:t>
            </a:r>
            <a:r>
              <a:rPr sz="1350">
                <a:solidFill>
                  <a:srgbClr val="232638"/>
                </a:solidFill>
                <a:latin typeface="Calibri"/>
              </a:rPr>
              <a:t> AppException -&gt; Validation, Unauthorized, Forbidden, NotFound, Conflict — mapped to HTTP status codes by a global exception handler.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1645920" cy="6400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HTTP Request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458200" y="2075688"/>
            <a:ext cx="27432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3291840"/>
            <a:ext cx="1645920" cy="6400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Action Filter
[HasPermission]</a:t>
            </a:r>
          </a:p>
        </p:txBody>
      </p:sp>
      <p:sp>
        <p:nvSpPr>
          <p:cNvPr id="8" name="Down Arrow 7"/>
          <p:cNvSpPr/>
          <p:nvPr/>
        </p:nvSpPr>
        <p:spPr>
          <a:xfrm>
            <a:off x="7516368" y="3931920"/>
            <a:ext cx="14630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1828800"/>
            <a:ext cx="1645920" cy="6400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Controller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287000" y="2075688"/>
            <a:ext cx="27432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3291840"/>
            <a:ext cx="1645920" cy="6400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01442"/>
                </a:solidFill>
                <a:latin typeface="Calibri"/>
              </a:rPr>
              <a:t>Handler
(Command/Query)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45168" y="3931920"/>
            <a:ext cx="14630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1828800"/>
            <a:ext cx="1645920" cy="6400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Domain
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2115800" y="2075688"/>
            <a:ext cx="27432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3291840"/>
            <a:ext cx="1645920" cy="640080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1206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Flow: Request → Permission check → Controller → Handler → Domain Model → Persistence. Handlers are injected directly, no MediatR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Data Model: Recursive Academic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2651760" cy="566928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University</a:t>
            </a:r>
          </a:p>
        </p:txBody>
      </p:sp>
      <p:sp>
        <p:nvSpPr>
          <p:cNvPr id="5" name="Down Arrow 4"/>
          <p:cNvSpPr/>
          <p:nvPr/>
        </p:nvSpPr>
        <p:spPr>
          <a:xfrm>
            <a:off x="2414016" y="2368296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7008" y="2551176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Faculty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98064" y="3136392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91056" y="3319272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Department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82112" y="3904488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4087368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Program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66160" y="4672584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9152" y="4855464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C6178"/>
                </a:solidFill>
                <a:latin typeface="Calibri"/>
              </a:rPr>
              <a:t>Single recursive entity — StructureNode — models the entire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828800"/>
            <a:ext cx="5806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Design Decisions</a:t>
            </a:r>
            <a:r>
              <a:rPr sz="1350" b="1">
                <a:solidFill>
                  <a:srgbClr val="232638"/>
                </a:solidFill>
                <a:latin typeface="Calibri"/>
              </a:rPr>
              <a:t>▸  Single-table hierarchy.</a:t>
            </a:r>
            <a:r>
              <a:rPr sz="1350">
                <a:solidFill>
                  <a:srgbClr val="232638"/>
                </a:solidFill>
                <a:latin typeface="Calibri"/>
              </a:rPr>
              <a:t> All organizational levels are rows of one self-referencing StructureNode entity — not separate tables. New node types are data-only additions (enum + config row).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Materialized path + depth.</a:t>
            </a:r>
            <a:r>
              <a:rPr sz="1350">
                <a:solidFill>
                  <a:srgbClr val="232638"/>
                </a:solidFill>
                <a:latin typeface="Calibri"/>
              </a:rPr>
              <a:t> Each node stores its full ancestor path (/{root}/{...}/{self}) enabling O(1) subtree queries via SQL prefix match — no recursive CTEs at read time.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MoveNode algorithm.</a:t>
            </a:r>
            <a:r>
              <a:rPr sz="1350">
                <a:solidFill>
                  <a:srgbClr val="232638"/>
                </a:solidFill>
                <a:latin typeface="Calibri"/>
              </a:rPr>
              <a:t> Re-parenting rewrites paths and depths for the entire subtree atomically using batch UPDATE. Cycle prevention checks path prefix collision.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Typed children rules.</a:t>
            </a:r>
            <a:r>
              <a:rPr sz="1350">
                <a:solidFill>
                  <a:srgbClr val="232638"/>
                </a:solidFill>
                <a:latin typeface="Calibri"/>
              </a:rPr>
              <a:t> StructureNodeRules defines which node types may nest under which, enforced by application-layer validators — not schema constraints.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Soft delete by path prefix.</a:t>
            </a:r>
            <a:r>
              <a:rPr sz="1350">
                <a:solidFill>
                  <a:srgbClr val="232638"/>
                </a:solidFill>
                <a:latin typeface="Calibri"/>
              </a:rPr>
              <a:t> RecursiveSoftDeleteAsync flags every descendant via Path.StartsWith(). EF global query filters hide deleted rows transparently.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Algorithm: DAG Prerequisite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303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Problem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Course prerequisites form a directed graph. Cycles (A requires B, B requires A) would make academic plans impossible to satisfy.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The system must reject any prerequisite assignment that would introduce a cycle, while allowing arbitrary DAG-structured prerequisite chains.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Solution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Depth-First Search (DFS) cycle detection over the adjacency list of all prerequisite edges.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The algorithm builds the full graph excluding the course's own current edges, then checks if any proposed prerequisite can reach back to the course being edited.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Time complexity: O(V + E) where V = course count, E = prerequisite edges — executed on every prerequisite mutation.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440680" cy="44805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892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Pseudocode: DAG Cycle Detection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function EnsureAcyclic(courseId, proposedPrereqs):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allEdges ← GetAllPrerequisiteEdges()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adjacency ← BuildAdjacencyList(allEdges)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visited ← empty Set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stack ← Stack(proposedPrereqs)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while stack is not empty: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node ← stack.pop()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if node == courseId: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    throw CycleDetected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if node in visited: continue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visited.add(node)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for each neighbor in adjacency[node]: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        stack.push(neighbor)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// No conflict — accept the new prerequisites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32638"/>
                </a:solidFill>
                <a:latin typeface="Consolas"/>
              </a:rPr>
              <a:t>    return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6355080"/>
            <a:ext cx="5440680" cy="32004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A1F5E"/>
                </a:solidFill>
                <a:latin typeface="Calibri"/>
              </a:rPr>
              <a:t>Ensures prerequisite graphs remain valid DAGs at all times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Pattern: Transactional Outbox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Problem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Domain events (e.g., 'FeePaid', 'CourseRegistered') must be delivered reliably for side effects (notifications, sync push).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Dual-write to database and message broker risks inconsistency — if one fails, the system state diverges.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Solution: Transactional Outbox</a:t>
            </a:r>
            <a:r>
              <a:rPr sz="1350" b="1">
                <a:solidFill>
                  <a:srgbClr val="232638"/>
                </a:solidFill>
                <a:latin typeface="Calibri"/>
              </a:rPr>
              <a:t>▸  Atomic write.</a:t>
            </a:r>
            <a:r>
              <a:rPr sz="1350">
                <a:solidFill>
                  <a:srgbClr val="232638"/>
                </a:solidFill>
                <a:latin typeface="Calibri"/>
              </a:rPr>
              <a:t> Business entity + OutboxMessage are saved in the same EF Core transaction — guaranteed consistency.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Background processor.</a:t>
            </a:r>
            <a:r>
              <a:rPr sz="1350">
                <a:solidFill>
                  <a:srgbClr val="232638"/>
                </a:solidFill>
                <a:latin typeface="Calibri"/>
              </a:rPr>
              <a:t> OutboxDispatcher (IHostedService) polls for unprocessed messages on a configurable interval.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Lease-based locking.</a:t>
            </a:r>
            <a:r>
              <a:rPr sz="1350">
                <a:solidFill>
                  <a:srgbClr val="232638"/>
                </a:solidFill>
                <a:latin typeface="Calibri"/>
              </a:rPr>
              <a:t> LockedBy / LockedUntil columns enable multiple instances to share processing without conflict.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Poison queue.</a:t>
            </a:r>
            <a:r>
              <a:rPr sz="1350">
                <a:solidFill>
                  <a:srgbClr val="232638"/>
                </a:solidFill>
                <a:latin typeface="Calibri"/>
              </a:rPr>
              <a:t> Messages exceeding max retries (configurable) are moved to a dead-letter table for forensic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2286000" cy="594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1. Handler
Executes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15400" y="205282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89720" y="1828800"/>
            <a:ext cx="2286000" cy="594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2. Save Entity
+ OutboxMessage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521440" y="205282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795760" y="1828800"/>
            <a:ext cx="2286000" cy="59436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01442"/>
                </a:solidFill>
                <a:latin typeface="Calibri"/>
              </a:rPr>
              <a:t>3. Transaction
Commits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653528" y="2423160"/>
            <a:ext cx="146304" cy="146304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2834640"/>
            <a:ext cx="2286000" cy="594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4. OutboxDispatcher
Reads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15400" y="305866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2834640"/>
            <a:ext cx="2286000" cy="594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5. Deliver to
Handlers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521440" y="305866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795760" y="2834640"/>
            <a:ext cx="2286000" cy="594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6. Mark
Processed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377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On failure: message is retried with exponential backoff up to MaxAttempts, then moved to the poison queue for manual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Authorization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1168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5E"/>
                </a:solidFill>
                <a:latin typeface="Calibri"/>
              </a:rPr>
              <a:t>[HasPermission]
Attribute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21284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40" y="1828800"/>
            <a:ext cx="201168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5E"/>
                </a:solidFill>
                <a:latin typeface="Calibri"/>
              </a:rPr>
              <a:t>PermissionPolicy
Provider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26280" y="221284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201168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Permission
Handler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37960" y="2212848"/>
            <a:ext cx="228600" cy="146304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828800"/>
            <a:ext cx="201168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5E"/>
                </a:solidFill>
                <a:latin typeface="Calibri"/>
              </a:rPr>
              <a:t>Effective
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12344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1. Attribute Declaration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638"/>
                </a:solidFill>
                <a:latin typeface="Calibri"/>
              </a:rPr>
              <a:t>[HasPermission("permissions.roles.View")] on controller actions. Policy name encodes module.resource.action with optional scope binding: "Permission:{action}|{ScopeKind}:{routeParam}".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480560"/>
            <a:ext cx="10972800" cy="12344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2. Policy Resolution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638"/>
                </a:solidFill>
                <a:latin typeface="Calibri"/>
              </a:rPr>
              <a:t>Custom IAuthorizationPolicyProvider parses policy names into PermissionRequirement objects. Results are cached in a ConcurrentDictionary for the process lifetime.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852160"/>
            <a:ext cx="10972800" cy="12344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9893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3. Permission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638"/>
                </a:solidFill>
                <a:latin typeface="Calibri"/>
              </a:rPr>
              <a:t>Custom AuthorizationHandler&lt;PermissionRequirement&gt; resolves the user's cached permission HashSet; evaluates student self-permissions bypass; checks action membership via O(1) lookup.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7223760"/>
            <a:ext cx="10972800" cy="12344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3609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4. Scope Resolution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638"/>
                </a:solidFill>
                <a:latin typeface="Calibri"/>
              </a:rPr>
              <a:t>IEffectiveScope evaluates structural scope (path-prefix matching against granted StructureNodeId) and temporal scope (academic year, semester). Denials are audit-logged.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Scope-First Authorization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395728" cy="10515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Requested
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structure / year / semester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from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528" y="1965960"/>
            <a:ext cx="384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C9A84C"/>
                </a:solidFill>
                <a:latin typeface="Calibri"/>
              </a:rPr>
              <a:t>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874519"/>
            <a:ext cx="2395728" cy="10515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Allowed
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role grants +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overrides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464" y="1965960"/>
            <a:ext cx="384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874519"/>
            <a:ext cx="2395728" cy="105156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Effective
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data visibility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965960"/>
            <a:ext cx="384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45168" y="1874519"/>
            <a:ext cx="2395728" cy="1051560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Permission
Check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module.resource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.action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Two-Dimensional Scoping</a:t>
            </a:r>
            <a:r>
              <a:rPr sz="1300" b="1">
                <a:solidFill>
                  <a:srgbClr val="232638"/>
                </a:solidFill>
                <a:latin typeface="Calibri"/>
              </a:rPr>
              <a:t>▸  Structural scope.</a:t>
            </a:r>
            <a:r>
              <a:rPr sz="1300">
                <a:solidFill>
                  <a:srgbClr val="232638"/>
                </a:solidFill>
                <a:latin typeface="Calibri"/>
              </a:rPr>
              <a:t> University hierarchy tree (University → Faculty → Department → Program → Level). A staff grant at /Faculty/CS covers all descendants via path-prefix matching.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Temporal scope.</a:t>
            </a:r>
            <a:r>
              <a:rPr sz="1300">
                <a:solidFill>
                  <a:srgbClr val="232638"/>
                </a:solidFill>
                <a:latin typeface="Calibri"/>
              </a:rPr>
              <a:t> Academic Year + Semester selection. A staff member may have access to current year data only.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Allow - Deny aggregation.</a:t>
            </a:r>
            <a:r>
              <a:rPr sz="1300">
                <a:solidFill>
                  <a:srgbClr val="232638"/>
                </a:solidFill>
                <a:latin typeface="Calibri"/>
              </a:rPr>
              <a:t> Permissions = (Allow ∪ implied(Allow)) − (Deny ∪ reverse-implied(Deny)). Deny overrides all role grants.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Permission manifests.</a:t>
            </a:r>
            <a:r>
              <a:rPr sz="1300">
                <a:solidFill>
                  <a:srgbClr val="232638"/>
                </a:solidFill>
                <a:latin typeface="Calibri"/>
              </a:rPr>
              <a:t> Each module declares its permissions code-first via IPermissionManifest, synchronized to the database at startup. Action hierarchies (Delete ⊃ View) are expanded at write time for O(1) runtime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83280"/>
            <a:ext cx="5166360" cy="27432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617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Caching Strategy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▸  Permission sets cached in Redis (fallback: in-memory).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▸  Cache key: perm_lookup_{epoch}_{userId}_{scope}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▸  Global epoch invalidates all caches when manifests change.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▸  User-level invalidation on role/permission assignment changes.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▸  Stampede protection via single-flight rebuild with distributed lock.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Synchronization 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246120" cy="1828800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External University SIS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Institutional source of truth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Students · Staff · Courses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Schedules · Registration · 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783080"/>
            <a:ext cx="3246120" cy="219456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Sync Engine (Hangfire)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01442"/>
                </a:solidFill>
                <a:latin typeface="Calibri"/>
              </a:rPr>
              <a:t>6 Modular Sync Adapters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101442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101442"/>
                </a:solidFill>
                <a:latin typeface="Calibri"/>
              </a:rPr>
              <a:t>Student · Staff · Courses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101442"/>
                </a:solidFill>
                <a:latin typeface="Calibri"/>
              </a:rPr>
              <a:t>Schedules · Finance · Registration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F5E"/>
                </a:solidFill>
                <a:latin typeface="Calibri"/>
              </a:rPr>
              <a:t>One ISyncModule per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783080"/>
            <a:ext cx="3246120" cy="1828800"/>
          </a:xfrm>
          <a:prstGeom prst="roundRect">
            <a:avLst/>
          </a:prstGeom>
          <a:solidFill>
            <a:srgbClr val="1A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Portal Database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SQL Server 2022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Portal-owned + SIS-sourced data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Provenance-tracked per record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3931920" y="2560320"/>
            <a:ext cx="457200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-Right Arrow 7"/>
          <p:cNvSpPr/>
          <p:nvPr/>
        </p:nvSpPr>
        <p:spPr>
          <a:xfrm>
            <a:off x="8046720" y="2560320"/>
            <a:ext cx="228600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Sync Pipeline per Module</a:t>
            </a:r>
            <a:r>
              <a:rPr sz="1300" b="1">
                <a:solidFill>
                  <a:srgbClr val="232638"/>
                </a:solidFill>
                <a:latin typeface="Calibri"/>
              </a:rPr>
              <a:t>▸  Pull flow (SIS → Portal).</a:t>
            </a:r>
            <a:r>
              <a:rPr sz="1300">
                <a:solidFill>
                  <a:srgbClr val="232638"/>
                </a:solidFill>
                <a:latin typeface="Calibri"/>
              </a:rPr>
              <a:t> IDataExtractor streams changed rows from the external system using checkpoint cursors → IRecordMapper converts to internal model → IRecordValidator enforces rules → IRecordWriter upserts idempotently into portal DB.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Push flow (Portal → SIS).</a:t>
            </a:r>
            <a:r>
              <a:rPr sz="1300">
                <a:solidFill>
                  <a:srgbClr val="232638"/>
                </a:solidFill>
                <a:latin typeface="Calibri"/>
              </a:rPr>
              <a:t> Local mutations trigger outbox events → Hangfire job enqueued → module adapter pushes to external system API within a distributed lock.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Idempotency.</a:t>
            </a:r>
            <a:r>
              <a:rPr sz="1300">
                <a:solidFill>
                  <a:srgbClr val="232638"/>
                </a:solidFill>
                <a:latin typeface="Calibri"/>
              </a:rPr>
              <a:t> All writers are idempotent — replaying a checkpoint or retrying a failed batch produces the same final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Synchronization Platform: Resilience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Five-Layer Retry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5303520" cy="685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Layer 1: Sink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23317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32638"/>
                </a:solidFill>
                <a:latin typeface="Calibri"/>
              </a:rPr>
              <a:t>No retry inside single call — fail fast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63240"/>
            <a:ext cx="5303520" cy="685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Layer 2: Pipeline per-batch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31089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32638"/>
                </a:solidFill>
                <a:latin typeface="Calibri"/>
              </a:rPr>
              <a:t>Configurable retries per batch (default: 0 — fail on first error to surface issues quickly)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40480"/>
            <a:ext cx="5303520" cy="685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Layer 3: Hangfire automatic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886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32638"/>
                </a:solidFill>
                <a:latin typeface="Calibri"/>
              </a:rPr>
              <a:t>4 attempts with exponential backoff (60s, 300s, 900s, 3600s) — [AutomaticRetry] attribute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617720"/>
            <a:ext cx="5303520" cy="6858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01442"/>
                </a:solidFill>
                <a:latin typeface="Calibri"/>
              </a:rPr>
              <a:t>Layer 4: Outbox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6634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32638"/>
                </a:solidFill>
                <a:latin typeface="Calibri"/>
              </a:rPr>
              <a:t>Per-message AttemptCount incremented each tick; moves to poison queue at MaxAttempts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394960"/>
            <a:ext cx="5303520" cy="6858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638"/>
                </a:solidFill>
                <a:latin typeface="Calibri"/>
              </a:rPr>
              <a:t>Layer 5: Cron tick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4406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32638"/>
                </a:solidFill>
                <a:latin typeface="Calibri"/>
              </a:rPr>
              <a:t>Every minute per module/direction, staggered across modules to avoid thundering herd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Additional mechanisms: Checkpoint-based incremental sync | Dead-letter audit table | Correlation ID tracing | Configurable per-module cron schedules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83080"/>
            <a:ext cx="5394960" cy="10058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5623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Checkpoint 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Opaque cursors (ISO-8601 timestamps or sequence numbers) persist after each successful run. On failure, the next run replays — safe due to idempotent writers.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394960" cy="10058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99923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Distributed Locking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[PerModuleDisableConcurrency] prevents overlapping runs per (module, direction). Uses skip-on-conflict to avoid retry storms from cron overlap.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069080"/>
            <a:ext cx="5394960" cy="10058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14223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Dead Letter Queue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SyncDeadLetterFilter observes Hangfire's FailedState and writes failure metadata to sync_dead_letters table. Unique index guarantees exactly one record per failed job.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212080"/>
            <a:ext cx="5394960" cy="100584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28523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Observability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OpenTelemetry activity tracking per pipeline stage. Hangfire dashboard with per-queue monitoring. Audit logs connect correlation IDs across runs.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6309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Architecture Overview</a:t>
            </a:r>
            <a:r>
              <a:rPr sz="1350" b="1">
                <a:solidFill>
                  <a:srgbClr val="232638"/>
                </a:solidFill>
                <a:latin typeface="Calibri"/>
              </a:rPr>
              <a:t>▸  Modular SPA.</a:t>
            </a:r>
            <a:r>
              <a:rPr sz="1350">
                <a:solidFill>
                  <a:srgbClr val="232638"/>
                </a:solidFill>
                <a:latin typeface="Calibri"/>
              </a:rPr>
              <a:t> React 19 + Vite 8; each feature is a self-contained module exporting pages, routes, navigation entries, and locale files. Module Federation ready via @originjs/vite-plugin-federation.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Manifest-driven routing.</a:t>
            </a:r>
            <a:r>
              <a:rPr sz="1350">
                <a:solidFill>
                  <a:srgbClr val="232638"/>
                </a:solidFill>
                <a:latin typeface="Calibri"/>
              </a:rPr>
              <a:t> A routeRegistry aggregates per-module route manifests — paths, permissions, lazy loading, sidebar menus, and breadcrumbs are metadata-derived.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Server state: TanStack Query v5.</a:t>
            </a:r>
            <a:r>
              <a:rPr sz="1350">
                <a:solidFill>
                  <a:srgbClr val="232638"/>
                </a:solidFill>
                <a:latin typeface="Calibri"/>
              </a:rPr>
              <a:t> Caches API responses with 30s staleTime / 5min gcTime. Scope-aware query keys include structure node, academic year, and semester.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Client state: React Context + Zustand.</a:t>
            </a:r>
            <a:r>
              <a:rPr sz="1350">
                <a:solidFill>
                  <a:srgbClr val="232638"/>
                </a:solidFill>
                <a:latin typeface="Calibri"/>
              </a:rPr>
              <a:t> Five React Context providers (Auth, Permission, Domain, Academic, StickySelection) handle global state. One Zustand store (useDashboardLayoutStore) manages dashboard widget layout persisted to localStorage.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Permission gating.</a:t>
            </a:r>
            <a:r>
              <a:rPr sz="1350">
                <a:solidFill>
                  <a:srgbClr val="232638"/>
                </a:solidFill>
                <a:latin typeface="Calibri"/>
              </a:rPr>
              <a:t> PermissionContext drives RouteGuard (route-level), PermissionGate (UI-level), and menu filtering — all from the same module.resource.action names used server-side.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828800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17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feature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898648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27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routed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968496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21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API service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038344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24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locale bundles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Frontend: State Management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303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Authentication Flow</a:t>
            </a:r>
            <a:r>
              <a:rPr sz="1300" b="1">
                <a:solidFill>
                  <a:srgbClr val="232638"/>
                </a:solidFill>
                <a:latin typeface="Calibri"/>
              </a:rPr>
              <a:t>▸  Dual login portals.</a:t>
            </a:r>
            <a:r>
              <a:rPr sz="1300">
                <a:solidFill>
                  <a:srgbClr val="232638"/>
                </a:solidFill>
                <a:latin typeface="Calibri"/>
              </a:rPr>
              <a:t> Separate /admin/login and /student/login routes posting to /auth/login and /auth/login-student.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JWT with refresh rotation.</a:t>
            </a:r>
            <a:r>
              <a:rPr sz="1300">
                <a:solidFill>
                  <a:srgbClr val="232638"/>
                </a:solidFill>
                <a:latin typeface="Calibri"/>
              </a:rPr>
              <a:t> 15-minute access tokens with 7-day refresh tokens. On 401, a sophisticated Axios interceptor queues concurrent requests during refresh to avoid race conditions.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▸  Session versioning.</a:t>
            </a:r>
            <a:r>
              <a:rPr sz="1300">
                <a:solidFill>
                  <a:srgbClr val="232638"/>
                </a:solidFill>
                <a:latin typeface="Calibri"/>
              </a:rPr>
              <a:t> A monotonic counter in the JWT claim is validated against the DB by SessionVersionMiddleware — enabling stateless token revocation without a blocklist.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2336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Context Provider Composition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▸  BrowserRouter &gt; ErrorBoundary &gt; QueryClientProvider &gt; AuthProvider &gt; ToastProvider &gt; DomainProvider &gt; AcademicProvider &gt; PermissionProvider &gt; StickySelectionProvider &gt; App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▸  Each context exports a convenience hook (useAuth, usePermission) that validates it is used within the provider.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1737360" cy="868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Login
Request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183880" y="2199132"/>
            <a:ext cx="164592" cy="128016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1737360" cy="868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JWT
Issued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104120" y="2199132"/>
            <a:ext cx="164592" cy="128016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0" y="1828800"/>
            <a:ext cx="1737360" cy="86868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Access + Refresh
Stored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205472" y="2697480"/>
            <a:ext cx="128016" cy="128016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1737360" cy="868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API Call
+ Bearer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83880" y="3296412"/>
            <a:ext cx="164592" cy="128016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2926080"/>
            <a:ext cx="1737360" cy="868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401 → Refresh
Queue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04120" y="3296412"/>
            <a:ext cx="164592" cy="128016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0" y="2926080"/>
            <a:ext cx="1737360" cy="868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On Failure
→ Logout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Internationalization &amp; RTL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1F5E"/>
                </a:solidFill>
                <a:latin typeface="Calibri"/>
              </a:rPr>
              <a:t>Arabic-First Bilingual Design</a:t>
            </a:r>
            <a:r>
              <a:rPr sz="1350" b="1">
                <a:solidFill>
                  <a:srgbClr val="232638"/>
                </a:solidFill>
                <a:latin typeface="Calibri"/>
              </a:rPr>
              <a:t>▸  Locale setup.</a:t>
            </a:r>
            <a:r>
              <a:rPr sz="1350">
                <a:solidFill>
                  <a:srgbClr val="232638"/>
                </a:solidFill>
                <a:latin typeface="Calibri"/>
              </a:rPr>
              <a:t> i18next + react-i18next configured with Arabic ('ar') as the fallback language. Language detected from query string, cookie, localStorage, or browser preferences.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Resource organization.</a:t>
            </a:r>
            <a:r>
              <a:rPr sz="1350">
                <a:solidFill>
                  <a:srgbClr val="232638"/>
                </a:solidFill>
                <a:latin typeface="Calibri"/>
              </a:rPr>
              <a:t> 12 JSON translation namespaces per language — common, auth, navigation, dashboard, landing, students, staff, structure, studentServices, notifications, permissions, treasury — plus academic in a separate namespace.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RTL handling.</a:t>
            </a:r>
            <a:r>
              <a:rPr sz="1350">
                <a:solidFill>
                  <a:srgbClr val="232638"/>
                </a:solidFill>
                <a:latin typeface="Calibri"/>
              </a:rPr>
              <a:t> document.dir switches between 'rtl' and 'ltr' on language change. All layout spacing uses CSS logical properties (margin-inline-start, padding-inline-end) for automatic mirroring.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Design tokens.</a:t>
            </a:r>
            <a:r>
              <a:rPr sz="1350">
                <a:solidFill>
                  <a:srgbClr val="232638"/>
                </a:solidFill>
                <a:latin typeface="Calibri"/>
              </a:rPr>
              <a:t> CSS custom properties in tokens.css define the navy (#1A1F5E) / gold (#C9A84C) brand palette, typography stack (Space Mono + DM Sans + Outfit), and semantic colors. Dark mode support via .dark class override.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▸  Locale-specific formatting.</a:t>
            </a:r>
            <a:r>
              <a:rPr sz="1350">
                <a:solidFill>
                  <a:srgbClr val="232638"/>
                </a:solidFill>
                <a:latin typeface="Calibri"/>
              </a:rPr>
              <a:t> Arabic-Indic digits via CSS, locale-sensitive date/number formatting through Intl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02920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07568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208" y="197510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Languages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Arabic &amp;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26080"/>
            <a:ext cx="502920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317296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30723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Locale files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Per language (12 + 1 academic)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23360"/>
            <a:ext cx="502920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20840" y="427024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416966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Kickoff words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Maximum key depth in JSON bundles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120640"/>
            <a:ext cx="5029200" cy="96012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536752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526694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RTL coverage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CSS logical properties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6217920"/>
            <a:ext cx="5029200" cy="50292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A1F5E"/>
                </a:solidFill>
                <a:latin typeface="Calibri"/>
              </a:rPr>
              <a:t>RTL is not an afterthought — the design system is built from logical properties from the start.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Feature Overview — Administrative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University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Tree editor for faculties, departments, programs, and levels with drag-to-reorder and path-based soft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1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45151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1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Academic calendar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Year and semester lifecycle management — create, open, close, archive — each action permission-gated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2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67342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2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Course catalog &amp; plans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Courses with credit hours and prerequisite chains; per-program academic plan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Offerings &amp; scheduling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Section capacity, instructor assignment, scheduling matrix with conflict detection algorithms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1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Permissions &amp; roles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Matrix editor with scoped role grants and per-staff allow/deny overrides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2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67342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2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Treasury &amp;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Fee orders, payment tracking, and receipt reconciliation against the external treasury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Feature Overview — Student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Academic snapshot: GPA, credit progress toward graduation, current registrations, and university announcements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1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45151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1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Course 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Self-service enrollment with registration windows, capacity checks, prerequisite validation, and waitlist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2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67342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2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Weekly schedule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Personal timetable grid generated from enrolled course offerings with conflict highlighting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Grades &amp; transcript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Term-by-term grades with GPA/CGPA calculation and downloadable bilingual PDF transcript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1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Service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Catalog of services with dynamic forms and staged approval workflows tracked in 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2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67342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2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Fees &amp; payments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Outstanding fees grouped into orders; online payment via gateway with webhook confirmation and digital receipts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 · DEMONSTRATION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Security &amp;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Sign in as administrator on the staff portal.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Navigate to the permission matrix; create a role with scoped permission limited to a specific faculty.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Assign the role to a staff member.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Sign in as that staff member — only data within the granted structural and temporal scope is visible. Unauthorized UI elements are absent from the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Demonstrated outcome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Scope-first authorization verified end-to-end: a single permission change reshapes both API responses and the rendered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 · DEMONSTRATION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Academic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Create an academic semester and open it for registration.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Add a course with a prerequisite; attempt a circular prerequisite chain and observe the DAG cycle rejection.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Create a course offering with capacity and instructor assignment.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Schedule meeting slots in the matrix; trigger an instructor double-booking warning and resolve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Demonstrated outcome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Domain rules — calendar lifecycle, prerequisite DAG validation, and schedule conflict detection — enforced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 · DEMONSTRATION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Student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Sign in as a student; review the dashboard showing GPA, credit summary, and current announcements.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Open course registration; register for an offering and watch remaining capacity decrement.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View the auto-generated weekly schedule grid.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Open grades; switch the interface to Arabic to demonstrate full RTL layout; download the bilingual PDF transcript.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Demonstrated outcome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Complete self-service student loop from registration through transcript in both languages from a unified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 · DEMONSTRATION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Services &amp;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As a student, submit a service request (e.g., official transcript) through its dynamically-defined form with required documents.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As staff, review the request in the admin portal and approve it.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Show the fee order auto-generated by approval.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Complete payment via the gateway sandbox; confirm the webhook updates the order status and a receipt is generated.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Demonstrated outcome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Cross-portal workflow integration: student request, staff approval, fee generation, and payment processing cooperate end-to-end.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Testing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Unit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Domain logic, application handlers, and service layer: authentication, authorization, courses, schedules, payments, and localization — Core.UniTests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1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1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Integration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Database behavior through EF Core, repository patterns, and external service interaction against stubs — Core.IntegrationsTests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2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67342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Architecture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Automated dependency verification: layered boundaries of the modular monolith are asserted in CI. No unauthorized cross-module references allowed.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Contract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Every [HasPermission] attribute must reference a declared permission constant. Manifests stay complete by construction — verified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1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Sync Platform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Checkpoint handling, retry behavior, pipeline execution, and module push/pull logic — Sync.Tests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2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2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Frontend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Vitest + React Testing Library. Component rendering, Zustand store hydration, route manifest sanity, service API mocking — 10+ test files and growing.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Evaluation &amp; System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30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backend projects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Across API, Core, modules,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1" y="178308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28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REST controllers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Covering every domain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2" y="178308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plug-in modules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With isolated permissions &amp;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4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17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frontend modules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Aggregated by route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1" y="374904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27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routed pages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Across both portals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2" y="374904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test suites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Including architecture &amp; contract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669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F5E"/>
                </a:solidFill>
                <a:latin typeface="Calibri"/>
              </a:rPr>
              <a:t>Comparative Analysis with Existing Solutions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Commercial SIS: Full lifecycle · High cost · Rigid · Weak RTL    |    LMS (Moodle/Canvas): Strong delivery · Course-centric · Limited auth    |    This project: Full lifecycle + Modular + Scope-aware auth + RTL + SIS coexistence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Limitations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486400" cy="4343400"/>
          </a:xfrm>
          <a:prstGeom prst="roundRect">
            <a:avLst/>
          </a:prstGeom>
          <a:solidFill>
            <a:srgbClr val="EE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Current Limitations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Single deployable: modules are logically isolated but share one process and database — scaling requires extraction.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Academic-records sync from the SIS is partially implemented relative to other sync modules.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Frontend automated test coverage is still thin compared with the backend test suites.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Notification delivery is in-app only; email/SMS channels are designed but not yet wired to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5166360" cy="4343400"/>
          </a:xfrm>
          <a:prstGeom prst="roundRect">
            <a:avLst/>
          </a:prstGeom>
          <a:solidFill>
            <a:srgbClr val="F5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6177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Future Work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Extract high-load modules (registration, payments) into independent services — the module boundaries already exist.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Mobile application reusing the REST API and permission model.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Analytics dashboards over accumulated academic data using the existing MongoDB audit store.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Single sign-on integration with institutional identity providers (SAML, OAuth 2.0).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▸  Container orchestration (Kubernetes) and CI/CD pipeline for automated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▸  A working platform.</a:t>
            </a:r>
            <a:r>
              <a:rPr sz="1600">
                <a:solidFill>
                  <a:srgbClr val="FFFFFF"/>
                </a:solidFill>
                <a:latin typeface="Calibri"/>
              </a:rPr>
              <a:t> The project delivers a bilingual, dual-portal university system covering structure, calendar, courses, registration, grades, services, and payments — end-to-end.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▸  An architectural argument.</a:t>
            </a:r>
            <a:r>
              <a:rPr sz="1600">
                <a:solidFill>
                  <a:srgbClr val="FFFFFF"/>
                </a:solidFill>
                <a:latin typeface="Calibri"/>
              </a:rPr>
              <a:t> A modular monolith with plug-in modules, manifest-declared permissions, and automated architecture verification achieves service-style separation at monolith operational cost.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▸  A security contribution.</a:t>
            </a:r>
            <a:r>
              <a:rPr sz="1600">
                <a:solidFill>
                  <a:srgbClr val="FFFFFF"/>
                </a:solidFill>
                <a:latin typeface="Calibri"/>
              </a:rPr>
              <a:t> Scope-first authorization — intersecting structural and temporal scope before evaluating permissions — expresses real university delegation patterns that plain RBAC cannot.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▸  A pragmatic integration.</a:t>
            </a:r>
            <a:r>
              <a:rPr sz="1600">
                <a:solidFill>
                  <a:srgbClr val="FFFFFF"/>
                </a:solidFill>
                <a:latin typeface="Calibri"/>
              </a:rPr>
              <a:t> Checkpointed, audited bidirectional synchronization lets the portal coexist with the institutional SIS instead of demanding its replacement.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2A3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5DBEF"/>
                </a:solidFill>
                <a:latin typeface="Calibri"/>
              </a:rPr>
              <a:t>Capital University Student Portal  ·  Graduation Project  2025/2026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20040"/>
            <a:ext cx="54864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[1]  M. Fowler, Patterns of Enterprise Application Architecture. Boston, MA: Addison-Wesley, 2002.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[2]  E. Evans, Domain-Driven Design: Tackling Complexity in the Heart of Software. Boston, MA: Addison-Wesley, 2003.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9689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[3]  R. C. Martin, Clean Architecture: A Craftsman's Guide to Software Structure and Design. Boston, MA: Prentice Hall,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094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[4]  Microsoft, "ASP.NET Core Modular Monolith Architecture," Microsoft Docs, 2025. [Online]. Available: https://learn.microsoft.com/en-us/dotnet/architecture/modern-web-apps-azure/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64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[5]  D. Richardson, "Pattern: Transactional Outbox," microservices.io, 2025. [Online]. Available: https://microservices.io/patterns/data/transactional-outbox.html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[6]  T. Mikalsen et al., "Transactional Outbox Pattern for Reliable Microservices Messaging," in Proc. IEEE ICWS, 2022, pp. 112–121.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330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[7]  TanStack, "TanStack Query v5 Documentation," 2025. [Online]. Available: https://tanstack.com/query/latest/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[8]  M. Garofalo, "Building Modular Monoliths in .NET," in Proc. .NET Conf,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[9]  React Team, "React 19 Documentation," 2025. [Online]. Available: https://react.dev/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9689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[10]  Oracle, "Managing Hierarchical Data in Relational Databases Using Materialized Paths," Oracle White Paper, 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8094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[11]  Hangfire, "Hangfire Documentation — Background Jobs for .NET," 2025. [Online]. Available: https://www.hangfire.io/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64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232638"/>
                </a:solidFill>
                <a:latin typeface="Calibri"/>
              </a:rPr>
              <a:t>[12]  R. S. Sandhu et al., "Role-Based Access Control Models," IEEE Computer, vol. 29, no. 2, pp. 38–47, Feb. 1996.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55080"/>
            <a:ext cx="10972800" cy="12700"/>
          </a:xfrm>
          <a:prstGeom prst="rect">
            <a:avLst/>
          </a:prstGeom>
          <a:solidFill>
            <a:srgbClr val="D5D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2025/2026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7664" y="1554480"/>
            <a:ext cx="1097280" cy="10972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01442"/>
                </a:solidFill>
                <a:latin typeface="Calibri"/>
              </a:rPr>
              <a:t>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94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C9A84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2254720000" y="4754880"/>
            <a:ext cx="2743200" cy="822960"/>
          </a:xfrm>
          <a:prstGeom prst="roundRect">
            <a:avLst/>
          </a:prstGeom>
          <a:solidFill>
            <a:srgbClr val="2A3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9A84C"/>
                </a:solidFill>
                <a:latin typeface="Calibri"/>
              </a:rPr>
              <a:t>Project Repository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5DBEF"/>
                </a:solidFill>
                <a:latin typeface="Calibri"/>
              </a:rPr>
              <a:t>https://github.com/[org]/capu-portal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8700480000" y="4754880"/>
            <a:ext cx="2743200" cy="822960"/>
          </a:xfrm>
          <a:prstGeom prst="roundRect">
            <a:avLst/>
          </a:prstGeom>
          <a:solidFill>
            <a:srgbClr val="2A3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9A84C"/>
                </a:solidFill>
                <a:latin typeface="Calibri"/>
              </a:rPr>
              <a:t>Documentation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5DBEF"/>
                </a:solidFill>
                <a:latin typeface="Calibri"/>
              </a:rPr>
              <a:t>docs/ — Master Specification, Domain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25146240000" y="4754880"/>
            <a:ext cx="2743200" cy="822960"/>
          </a:xfrm>
          <a:prstGeom prst="roundRect">
            <a:avLst/>
          </a:prstGeom>
          <a:solidFill>
            <a:srgbClr val="2A3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9A84C"/>
                </a:solidFill>
                <a:latin typeface="Calibri"/>
              </a:rPr>
              <a:t>Technology Stack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5DBEF"/>
                </a:solidFill>
                <a:latin typeface="Calibri"/>
              </a:rPr>
              <a:t>.NET 9 · React 19 · SQL Server ·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5DBEF"/>
                </a:solidFill>
                <a:latin typeface="Calibri"/>
              </a:rPr>
              <a:t>Capital University Student Portal  ·  Graduation Project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