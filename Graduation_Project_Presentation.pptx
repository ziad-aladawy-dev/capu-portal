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47664" y="914400"/>
            <a:ext cx="1097280" cy="109728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01442"/>
                </a:solidFill>
                <a:latin typeface="Calibri"/>
              </a:rPr>
              <a:t>CU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31720"/>
            <a:ext cx="9994392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Capital University Student Portal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C9A84C"/>
                </a:solidFill>
                <a:latin typeface="Calibri"/>
              </a:rPr>
              <a:t>A Modular Enterprise Platform for Managing the Academic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999439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Graduation Project — Faculty of Computer Science &amp; Engineering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D5DBEF"/>
                </a:solidFill>
                <a:latin typeface="Calibri"/>
              </a:rPr>
              <a:t>Presented by: [Student Name]      Supervised by: [Supervisor Name]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D5DBEF"/>
                </a:solidFill>
                <a:latin typeface="Calibri"/>
              </a:rPr>
              <a:t>Academic Year 2025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OVERVIEW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Agenda</a:t>
            </a:r>
          </a:p>
        </p:txBody>
      </p:sp>
      <p:sp>
        <p:nvSpPr>
          <p:cNvPr id="3" name="Oval 2"/>
          <p:cNvSpPr/>
          <p:nvPr/>
        </p:nvSpPr>
        <p:spPr>
          <a:xfrm>
            <a:off x="594360" y="1901952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01442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82880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A1F5E"/>
                </a:solidFill>
                <a:latin typeface="Calibri"/>
              </a:rPr>
              <a:t>Introduction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178"/>
                </a:solidFill>
                <a:latin typeface="Calibri"/>
              </a:rPr>
              <a:t>Context, stakeholders, and project scope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3017520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01442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944368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A1F5E"/>
                </a:solidFill>
                <a:latin typeface="Calibri"/>
              </a:rPr>
              <a:t>Problem Statement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178"/>
                </a:solidFill>
                <a:latin typeface="Calibri"/>
              </a:rPr>
              <a:t>Gaps in current university information systems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4133088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01442"/>
                </a:solidFill>
                <a:latin typeface="Calibr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059936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A1F5E"/>
                </a:solidFill>
                <a:latin typeface="Calibri"/>
              </a:rPr>
              <a:t>Related Work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178"/>
                </a:solidFill>
                <a:latin typeface="Calibri"/>
              </a:rPr>
              <a:t>Commercial SIS, LMS platforms, and in-house systems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5248656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01442"/>
                </a:solidFill>
                <a:latin typeface="Calibri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175504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A1F5E"/>
                </a:solidFill>
                <a:latin typeface="Calibri"/>
              </a:rPr>
              <a:t>System Architecture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178"/>
                </a:solidFill>
                <a:latin typeface="Calibri"/>
              </a:rPr>
              <a:t>Modular monolith, layering, and plug-in modules</a:t>
            </a:r>
          </a:p>
        </p:txBody>
      </p:sp>
      <p:sp>
        <p:nvSpPr>
          <p:cNvPr id="11" name="Oval 10"/>
          <p:cNvSpPr/>
          <p:nvPr/>
        </p:nvSpPr>
        <p:spPr>
          <a:xfrm>
            <a:off x="6355080" y="1901952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01442"/>
                </a:solidFill>
                <a:latin typeface="Calibri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82880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A1F5E"/>
                </a:solidFill>
                <a:latin typeface="Calibri"/>
              </a:rPr>
              <a:t>Security &amp; Data Model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178"/>
                </a:solidFill>
                <a:latin typeface="Calibri"/>
              </a:rPr>
              <a:t>Scope-first authorization and hierarchy modeling</a:t>
            </a:r>
          </a:p>
        </p:txBody>
      </p:sp>
      <p:sp>
        <p:nvSpPr>
          <p:cNvPr id="13" name="Oval 12"/>
          <p:cNvSpPr/>
          <p:nvPr/>
        </p:nvSpPr>
        <p:spPr>
          <a:xfrm>
            <a:off x="6355080" y="3017520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01442"/>
                </a:solidFill>
                <a:latin typeface="Calibri"/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944368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A1F5E"/>
                </a:solidFill>
                <a:latin typeface="Calibri"/>
              </a:rPr>
              <a:t>Implementation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178"/>
                </a:solidFill>
                <a:latin typeface="Calibri"/>
              </a:rPr>
              <a:t>Backend, frontend, and synchronization platform</a:t>
            </a:r>
          </a:p>
        </p:txBody>
      </p:sp>
      <p:sp>
        <p:nvSpPr>
          <p:cNvPr id="15" name="Oval 14"/>
          <p:cNvSpPr/>
          <p:nvPr/>
        </p:nvSpPr>
        <p:spPr>
          <a:xfrm>
            <a:off x="6355080" y="4133088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01442"/>
                </a:solidFill>
                <a:latin typeface="Calibri"/>
              </a:rPr>
              <a:t>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4059936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A1F5E"/>
                </a:solidFill>
                <a:latin typeface="Calibri"/>
              </a:rPr>
              <a:t>Demonstration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178"/>
                </a:solidFill>
                <a:latin typeface="Calibri"/>
              </a:rPr>
              <a:t>Administrative and student-facing walkthroughs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5248656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01442"/>
                </a:solidFill>
                <a:latin typeface="Calibri"/>
              </a:rPr>
              <a:t>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5175504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A1F5E"/>
                </a:solidFill>
                <a:latin typeface="Calibri"/>
              </a:rPr>
              <a:t>Evaluation &amp; Conclusion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178"/>
                </a:solidFill>
                <a:latin typeface="Calibri"/>
              </a:rPr>
              <a:t>Testing strategy, results, and future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828800"/>
            <a:ext cx="612648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400"/>
              </a:spcAft>
            </a:pPr>
            <a:r>
              <a:rPr sz="1550" b="1">
                <a:solidFill>
                  <a:srgbClr val="232638"/>
                </a:solidFill>
                <a:latin typeface="Calibri"/>
              </a:rPr>
              <a:t>•  Domain.</a:t>
            </a:r>
            <a:r>
              <a:rPr sz="1550">
                <a:solidFill>
                  <a:srgbClr val="232638"/>
                </a:solidFill>
                <a:latin typeface="Calibri"/>
              </a:rPr>
              <a:t> Universities coordinate a complex academic lifecycle: admission, course registration, scheduling, grading, fees, and student services.</a:t>
            </a:r>
          </a:p>
          <a:p>
            <a:pPr>
              <a:spcAft>
                <a:spcPts val="1400"/>
              </a:spcAft>
            </a:pPr>
            <a:r>
              <a:rPr sz="1550" b="1">
                <a:solidFill>
                  <a:srgbClr val="232638"/>
                </a:solidFill>
                <a:latin typeface="Calibri"/>
              </a:rPr>
              <a:t>•  Stakeholders.</a:t>
            </a:r>
            <a:r>
              <a:rPr sz="1550">
                <a:solidFill>
                  <a:srgbClr val="232638"/>
                </a:solidFill>
                <a:latin typeface="Calibri"/>
              </a:rPr>
              <a:t> Students, instructors, student-affairs staff, and administrators each require distinct views and authority over the same institutional data.</a:t>
            </a:r>
          </a:p>
          <a:p>
            <a:pPr>
              <a:spcAft>
                <a:spcPts val="1400"/>
              </a:spcAft>
            </a:pPr>
            <a:r>
              <a:rPr sz="1550" b="1">
                <a:solidFill>
                  <a:srgbClr val="232638"/>
                </a:solidFill>
                <a:latin typeface="Calibri"/>
              </a:rPr>
              <a:t>•  Goal.</a:t>
            </a:r>
            <a:r>
              <a:rPr sz="1550">
                <a:solidFill>
                  <a:srgbClr val="232638"/>
                </a:solidFill>
                <a:latin typeface="Calibri"/>
              </a:rPr>
              <a:t> Deliver a single bilingual web platform with two coordinated portals — an administrative portal and a student portal — backed by one consistent domain model.</a:t>
            </a:r>
          </a:p>
          <a:p>
            <a:pPr>
              <a:spcAft>
                <a:spcPts val="1400"/>
              </a:spcAft>
            </a:pPr>
            <a:r>
              <a:rPr sz="1550" b="1">
                <a:solidFill>
                  <a:srgbClr val="232638"/>
                </a:solidFill>
                <a:latin typeface="Calibri"/>
              </a:rPr>
              <a:t>•  Approach.</a:t>
            </a:r>
            <a:r>
              <a:rPr sz="1550">
                <a:solidFill>
                  <a:srgbClr val="232638"/>
                </a:solidFill>
                <a:latin typeface="Calibri"/>
              </a:rPr>
              <a:t> A modular monolith (.NET 9) exposing a REST API to a modular React 19 single-page application, synchronized with the university's existing student information system (SIS).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86600" y="1874519"/>
            <a:ext cx="2148840" cy="182880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4400" b="1">
                <a:solidFill>
                  <a:srgbClr val="1A1F5E"/>
                </a:solidFill>
                <a:latin typeface="Cambria"/>
              </a:rPr>
              <a:t>2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32638"/>
                </a:solidFill>
                <a:latin typeface="Calibri"/>
              </a:rPr>
              <a:t>Coordinated portals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178"/>
                </a:solidFill>
                <a:latin typeface="Calibri"/>
              </a:rPr>
              <a:t>Administrative &amp; student-facing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86600" y="3931919"/>
            <a:ext cx="2148840" cy="182880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4400" b="1">
                <a:solidFill>
                  <a:srgbClr val="1A1F5E"/>
                </a:solidFill>
                <a:latin typeface="Cambria"/>
              </a:rPr>
              <a:t>4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32638"/>
                </a:solidFill>
                <a:latin typeface="Calibri"/>
              </a:rPr>
              <a:t>User roles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178"/>
                </a:solidFill>
                <a:latin typeface="Calibri"/>
              </a:rPr>
              <a:t>Admin, affairs, instructor, student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1874519"/>
            <a:ext cx="2148840" cy="182880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4400" b="1">
                <a:solidFill>
                  <a:srgbClr val="1A1F5E"/>
                </a:solidFill>
                <a:latin typeface="Cambria"/>
              </a:rPr>
              <a:t>2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32638"/>
                </a:solidFill>
                <a:latin typeface="Calibri"/>
              </a:rPr>
              <a:t>Languages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178"/>
                </a:solidFill>
                <a:latin typeface="Calibri"/>
              </a:rPr>
              <a:t>Arabic &amp; English, full RTL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3931919"/>
            <a:ext cx="2148840" cy="182880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4400" b="1">
                <a:solidFill>
                  <a:srgbClr val="1A1F5E"/>
                </a:solidFill>
                <a:latin typeface="Cambria"/>
              </a:rPr>
              <a:t>7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32638"/>
                </a:solidFill>
                <a:latin typeface="Calibri"/>
              </a:rPr>
              <a:t>Domain modules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178"/>
                </a:solidFill>
                <a:latin typeface="Calibri"/>
              </a:rPr>
              <a:t>Plug-in backend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783080"/>
            <a:ext cx="51206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 i="0">
                <a:solidFill>
                  <a:srgbClr val="232638"/>
                </a:solidFill>
                <a:latin typeface="Calibri"/>
              </a:rPr>
              <a:t>•  Academic operations are typically spread across disconnected tools: spreadsheets, a legacy SIS, and paper-based service requests.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 i="0">
                <a:solidFill>
                  <a:srgbClr val="232638"/>
                </a:solidFill>
                <a:latin typeface="Calibri"/>
              </a:rPr>
              <a:t>•  Access control in existing systems is coarse — role labels rarely express “which faculty, which department, which semester” a staff member may act on.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 i="0">
                <a:solidFill>
                  <a:srgbClr val="232638"/>
                </a:solidFill>
                <a:latin typeface="Calibri"/>
              </a:rPr>
              <a:t>•  Student-facing services (transcripts, certificates, payments) require in-person visits and manual reconciliation with the treasury.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 i="0">
                <a:solidFill>
                  <a:srgbClr val="232638"/>
                </a:solidFill>
                <a:latin typeface="Calibri"/>
              </a:rPr>
              <a:t>•  Any replacement must coexist with the official SIS, which remains the institutional source of truth.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783080"/>
            <a:ext cx="5440680" cy="9601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327648" y="2029968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01442"/>
                </a:solidFill>
                <a:latin typeface="Calibri"/>
              </a:rPr>
              <a:t>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67728" y="1929384"/>
            <a:ext cx="4434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Fragmentation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178"/>
                </a:solidFill>
                <a:latin typeface="Calibri"/>
              </a:rPr>
              <a:t>No single system covers the full lifecycle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898648"/>
            <a:ext cx="5440680" cy="9601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27648" y="3145536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01442"/>
                </a:solidFill>
                <a:latin typeface="Calibri"/>
              </a:rPr>
              <a:t>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7728" y="3044952"/>
            <a:ext cx="4434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Coarse access control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178"/>
                </a:solidFill>
                <a:latin typeface="Calibri"/>
              </a:rPr>
              <a:t>Roles without structural or temporal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014216"/>
            <a:ext cx="5440680" cy="9601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27648" y="4261104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01442"/>
                </a:solidFill>
                <a:latin typeface="Calibri"/>
              </a:rPr>
              <a:t>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4160520"/>
            <a:ext cx="4434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Manual workflows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178"/>
                </a:solidFill>
                <a:latin typeface="Calibri"/>
              </a:rPr>
              <a:t>Paper requests, queues, and hand reconciliation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5129784"/>
            <a:ext cx="5440680" cy="9601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27648" y="5376672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01442"/>
                </a:solidFill>
                <a:latin typeface="Calibri"/>
              </a:rPr>
              <a:t>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5276088"/>
            <a:ext cx="4434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Data drift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178"/>
                </a:solidFill>
                <a:latin typeface="Calibri"/>
              </a:rPr>
              <a:t>Portal and SIS records diverge over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·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Project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594360" y="1929383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1442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874519"/>
            <a:ext cx="4892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Provide a unified web platform covering the academic lifecycle end-to-end — structure, calendar, courses, registration, grades, fees, and services.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3392423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1442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337559"/>
            <a:ext cx="4892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Design a fine-grained authorization model combining roles with structural and temporal scope (RBAC extended with attribute-based constraints).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4855463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1442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800599"/>
            <a:ext cx="4892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Adopt a modular architecture in which domain features are independent plug-in modules with their own permissions and persistence mapping.</a:t>
            </a:r>
          </a:p>
        </p:txBody>
      </p:sp>
      <p:sp>
        <p:nvSpPr>
          <p:cNvPr id="9" name="Oval 8"/>
          <p:cNvSpPr/>
          <p:nvPr/>
        </p:nvSpPr>
        <p:spPr>
          <a:xfrm>
            <a:off x="6355080" y="1929383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1442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874519"/>
            <a:ext cx="4892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Implement reliable bidirectional synchronization with the university's existing SIS, with auditing, checkpoints, and retry semantics.</a:t>
            </a:r>
          </a:p>
        </p:txBody>
      </p:sp>
      <p:sp>
        <p:nvSpPr>
          <p:cNvPr id="11" name="Oval 10"/>
          <p:cNvSpPr/>
          <p:nvPr/>
        </p:nvSpPr>
        <p:spPr>
          <a:xfrm>
            <a:off x="6355080" y="3392423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1442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337559"/>
            <a:ext cx="4892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Deliver a bilingual Arabic/English user experience with complete right-to-left layout support.</a:t>
            </a:r>
          </a:p>
        </p:txBody>
      </p:sp>
      <p:sp>
        <p:nvSpPr>
          <p:cNvPr id="13" name="Oval 12"/>
          <p:cNvSpPr/>
          <p:nvPr/>
        </p:nvSpPr>
        <p:spPr>
          <a:xfrm>
            <a:off x="6355080" y="4855463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1442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4800599"/>
            <a:ext cx="4892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Enforce quality through layered automated testing, including tests that verify the architecture itself.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Related Work &amp;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783080"/>
            <a:ext cx="3611880" cy="3154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31546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1A1F5E"/>
                </a:solidFill>
                <a:latin typeface="Calibri"/>
              </a:rPr>
              <a:t>Commercial SIS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1">
                <a:solidFill>
                  <a:srgbClr val="5C6178"/>
                </a:solidFill>
                <a:latin typeface="Calibri"/>
              </a:rPr>
              <a:t>Ellucian Banner, PeopleSoft Campus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232638"/>
                </a:solidFill>
                <a:latin typeface="Calibri"/>
              </a:rPr>
              <a:t>•  Comprehensive administrative coverage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232638"/>
                </a:solidFill>
                <a:latin typeface="Calibri"/>
              </a:rPr>
              <a:t>•  High licensing and customization cost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232638"/>
                </a:solidFill>
                <a:latin typeface="Calibri"/>
              </a:rPr>
              <a:t>•  Rigid data models; weak Arabic/RTL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6551" y="1783080"/>
            <a:ext cx="3611880" cy="3154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45151" y="2011680"/>
            <a:ext cx="31546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1A1F5E"/>
                </a:solidFill>
                <a:latin typeface="Calibri"/>
              </a:rPr>
              <a:t>Learning platforms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1">
                <a:solidFill>
                  <a:srgbClr val="5C6178"/>
                </a:solidFill>
                <a:latin typeface="Calibri"/>
              </a:rPr>
              <a:t>Moodle, Canvas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232638"/>
                </a:solidFill>
                <a:latin typeface="Calibri"/>
              </a:rPr>
              <a:t>•  Strong course-delivery features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232638"/>
                </a:solidFill>
                <a:latin typeface="Calibri"/>
              </a:rPr>
              <a:t>•  Course-centric — not designed for administrative lifecycle, fees, or structure management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232638"/>
                </a:solidFill>
                <a:latin typeface="Calibri"/>
              </a:rPr>
              <a:t>•  Limited fine-grained administrative authorization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38742" y="1783080"/>
            <a:ext cx="3611880" cy="3154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67342" y="2011680"/>
            <a:ext cx="31546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1A1F5E"/>
                </a:solidFill>
                <a:latin typeface="Calibri"/>
              </a:rPr>
              <a:t>In-house legacy systems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1">
                <a:solidFill>
                  <a:srgbClr val="5C6178"/>
                </a:solidFill>
                <a:latin typeface="Calibri"/>
              </a:rPr>
              <a:t>Typical institutional builds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232638"/>
                </a:solidFill>
                <a:latin typeface="Calibri"/>
              </a:rPr>
              <a:t>•  Tailored to local regulations and workflows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232638"/>
                </a:solidFill>
                <a:latin typeface="Calibri"/>
              </a:rPr>
              <a:t>•  Often monolithic and tightly coupled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232638"/>
                </a:solidFill>
                <a:latin typeface="Calibri"/>
              </a:rPr>
              <a:t>•  Hard to extend; minimal automated testing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166360"/>
            <a:ext cx="11000232" cy="1051560"/>
          </a:xfrm>
          <a:prstGeom prst="roundRect">
            <a:avLst/>
          </a:prstGeom>
          <a:solidFill>
            <a:srgbClr val="F2E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A1F5E"/>
                </a:solidFill>
                <a:latin typeface="Calibri"/>
              </a:rPr>
              <a:t>Positioning</a:t>
            </a:r>
          </a:p>
          <a:p>
            <a:pPr algn="ctr">
              <a:spcAft>
                <a:spcPts val="200"/>
              </a:spcAft>
            </a:pPr>
            <a:r>
              <a:rPr sz="1250" b="0">
                <a:solidFill>
                  <a:srgbClr val="232638"/>
                </a:solidFill>
                <a:latin typeface="Calibri"/>
              </a:rPr>
              <a:t>This project targets the gap between the three: lifecycle coverage of a SIS, the extensibility of a modular platform, and scope-aware authorization — while coexisting with the official SIS rather than replacing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·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783080"/>
            <a:ext cx="6035040" cy="713232"/>
          </a:xfrm>
          <a:prstGeom prst="roundRect">
            <a:avLst/>
          </a:prstGeom>
          <a:solidFill>
            <a:srgbClr val="1A1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React 19 Single-Page Application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D5DBEF"/>
                </a:solidFill>
                <a:latin typeface="Calibri"/>
              </a:rPr>
              <a:t>Administrative portal · Student portal · i18n (AR/EN)</a:t>
            </a:r>
          </a:p>
        </p:txBody>
      </p:sp>
      <p:sp>
        <p:nvSpPr>
          <p:cNvPr id="4" name="Down Arrow 3"/>
          <p:cNvSpPr/>
          <p:nvPr/>
        </p:nvSpPr>
        <p:spPr>
          <a:xfrm>
            <a:off x="3685032" y="2505456"/>
            <a:ext cx="310896" cy="164592"/>
          </a:xfrm>
          <a:prstGeom prst="downArrow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688336"/>
            <a:ext cx="6035040" cy="713232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A1F5E"/>
                </a:solidFill>
                <a:latin typeface="Calibri"/>
              </a:rPr>
              <a:t>REST API — ASP.NET Core (.NET 9)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178"/>
                </a:solidFill>
                <a:latin typeface="Calibri"/>
              </a:rPr>
              <a:t>28 controllers · JWT auth · scope-resolving middleware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685032" y="3410712"/>
            <a:ext cx="310896" cy="164592"/>
          </a:xfrm>
          <a:prstGeom prst="downArrow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3593592"/>
            <a:ext cx="6035040" cy="713232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A1F5E"/>
                </a:solidFill>
                <a:latin typeface="Calibri"/>
              </a:rPr>
              <a:t>Application Core — CQRS via MediatR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178"/>
                </a:solidFill>
                <a:latin typeface="Calibri"/>
              </a:rPr>
              <a:t>7 plug-in domain modules · permission manifests · validators</a:t>
            </a:r>
          </a:p>
        </p:txBody>
      </p:sp>
      <p:sp>
        <p:nvSpPr>
          <p:cNvPr id="8" name="Down Arrow 7"/>
          <p:cNvSpPr/>
          <p:nvPr/>
        </p:nvSpPr>
        <p:spPr>
          <a:xfrm>
            <a:off x="3685032" y="4315968"/>
            <a:ext cx="310896" cy="164592"/>
          </a:xfrm>
          <a:prstGeom prst="downArrow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4498848"/>
            <a:ext cx="6035040" cy="713232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A1F5E"/>
                </a:solidFill>
                <a:latin typeface="Calibri"/>
              </a:rPr>
              <a:t>Infrastructure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178"/>
                </a:solidFill>
                <a:latin typeface="Calibri"/>
              </a:rPr>
              <a:t>EF Core 9 · Redis cache · outbox processor · QuestPDF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685032" y="5221224"/>
            <a:ext cx="310896" cy="164592"/>
          </a:xfrm>
          <a:prstGeom prst="downArrow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5404104"/>
            <a:ext cx="6035040" cy="713232"/>
          </a:xfrm>
          <a:prstGeom prst="roundRect">
            <a:avLst/>
          </a:prstGeom>
          <a:solidFill>
            <a:srgbClr val="1A1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SQL Server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D5DBEF"/>
                </a:solidFill>
                <a:latin typeface="Calibri"/>
              </a:rPr>
              <a:t>Single relational store · soft-delete global filters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2148840"/>
            <a:ext cx="3657600" cy="1371600"/>
          </a:xfrm>
          <a:prstGeom prst="round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01442"/>
                </a:solidFill>
                <a:latin typeface="Calibri"/>
              </a:rPr>
              <a:t>Synchronization Platform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01442"/>
                </a:solidFill>
                <a:latin typeface="Calibri"/>
              </a:rPr>
              <a:t>Hangfire jobs · 6 sync modules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01442"/>
                </a:solidFill>
                <a:latin typeface="Calibri"/>
              </a:rPr>
              <a:t>checkpoints · retries · audit trail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4343400"/>
            <a:ext cx="3657600" cy="1005840"/>
          </a:xfrm>
          <a:prstGeom prst="roundRect">
            <a:avLst/>
          </a:prstGeom>
          <a:solidFill>
            <a:srgbClr val="1A1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External University SIS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D5DBEF"/>
                </a:solidFill>
                <a:latin typeface="Calibri"/>
              </a:rPr>
              <a:t>Institutional source of truth</a:t>
            </a:r>
          </a:p>
        </p:txBody>
      </p:sp>
      <p:sp>
        <p:nvSpPr>
          <p:cNvPr id="14" name="Up-Down Arrow 13"/>
          <p:cNvSpPr/>
          <p:nvPr/>
        </p:nvSpPr>
        <p:spPr>
          <a:xfrm>
            <a:off x="9326880" y="3611880"/>
            <a:ext cx="274320" cy="640080"/>
          </a:xfrm>
          <a:prstGeom prst="upDownArrow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eft-Right Arrow 14"/>
          <p:cNvSpPr/>
          <p:nvPr/>
        </p:nvSpPr>
        <p:spPr>
          <a:xfrm>
            <a:off x="6967728" y="2697480"/>
            <a:ext cx="566928" cy="274320"/>
          </a:xfrm>
          <a:prstGeom prst="leftRightArrow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557784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C6178"/>
                </a:solidFill>
                <a:latin typeface="Calibri"/>
              </a:rPr>
              <a:t>The sync engine reconciles portal data with the SIS in both directions on scheduled jobs.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·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Backend: Modular Monolith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783080"/>
            <a:ext cx="598932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100"/>
              </a:spcAft>
            </a:pPr>
            <a:r>
              <a:rPr sz="1400" b="1">
                <a:solidFill>
                  <a:srgbClr val="232638"/>
                </a:solidFill>
                <a:latin typeface="Calibri"/>
              </a:rPr>
              <a:t>•  Layered solution.</a:t>
            </a:r>
            <a:r>
              <a:rPr sz="1400">
                <a:solidFill>
                  <a:srgbClr val="232638"/>
                </a:solidFill>
                <a:latin typeface="Calibri"/>
              </a:rPr>
              <a:t> API host, Core (Abstractions / Domain / Application / Infrastructure), SharedKernel, plug-in Modules, and a parallel Sync platform — 30 projects in total.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232638"/>
                </a:solidFill>
                <a:latin typeface="Calibri"/>
              </a:rPr>
              <a:t>•  Plug-in registration.</a:t>
            </a:r>
            <a:r>
              <a:rPr sz="1400">
                <a:solidFill>
                  <a:srgbClr val="232638"/>
                </a:solidFill>
                <a:latin typeface="Calibri"/>
              </a:rPr>
              <a:t> Each module exposes Add&lt;Module&gt;Module() extension registering its services, repositories, and permission manifest into the host's dependency-injection container.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232638"/>
                </a:solidFill>
                <a:latin typeface="Calibri"/>
              </a:rPr>
              <a:t>•  Persistence injection.</a:t>
            </a:r>
            <a:r>
              <a:rPr sz="1400">
                <a:solidFill>
                  <a:srgbClr val="232638"/>
                </a:solidFill>
                <a:latin typeface="Calibri"/>
              </a:rPr>
              <a:t> Modules contribute EF Core entity configurations through assembly injection into the shared DbContext model — no core changes required to add a module.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232638"/>
                </a:solidFill>
                <a:latin typeface="Calibri"/>
              </a:rPr>
              <a:t>•  Eventual consistency.</a:t>
            </a:r>
            <a:r>
              <a:rPr sz="1400">
                <a:solidFill>
                  <a:srgbClr val="232638"/>
                </a:solidFill>
                <a:latin typeface="Calibri"/>
              </a:rPr>
              <a:t> Domain events are persisted transactionally via the outbox pattern and delivered by a background processor.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232638"/>
                </a:solidFill>
                <a:latin typeface="Calibri"/>
              </a:rPr>
              <a:t>•  Single deployable.</a:t>
            </a:r>
            <a:r>
              <a:rPr sz="1400">
                <a:solidFill>
                  <a:srgbClr val="232638"/>
                </a:solidFill>
                <a:latin typeface="Calibri"/>
              </a:rPr>
              <a:t> Modular boundaries give micro-service-style separation without distributed-system operational cost.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1783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F5E"/>
                </a:solidFill>
                <a:latin typeface="Calibri"/>
              </a:rPr>
              <a:t>Domain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2240280"/>
            <a:ext cx="4572000" cy="47548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78040" y="23317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Student  ·  module + abstractions pair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2807208"/>
            <a:ext cx="4572000" cy="47548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289864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Registration  ·  module + abstractions pair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3374136"/>
            <a:ext cx="4572000" cy="47548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3465576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Course Offering  ·  module + abstractions pair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3941064"/>
            <a:ext cx="4572000" cy="47548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4032504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Academic Records  ·  module + abstractions pair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4507992"/>
            <a:ext cx="4572000" cy="47548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459943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Schedule  ·  module + abstractions pair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5074920"/>
            <a:ext cx="4572000" cy="47548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51663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Payments  ·  module + abstractions pair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5641848"/>
            <a:ext cx="4572000" cy="47548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573328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Student Services  ·  module + abstractions pair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·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Scope-First Authorization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874519"/>
            <a:ext cx="2395728" cy="10515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A1F5E"/>
                </a:solidFill>
                <a:latin typeface="Calibri"/>
              </a:rPr>
              <a:t>Requested scope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178"/>
                </a:solidFill>
                <a:latin typeface="Calibri"/>
              </a:rPr>
              <a:t>structure / year / semester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178"/>
                </a:solidFill>
                <a:latin typeface="Calibri"/>
              </a:rPr>
              <a:t>from request headers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81528" y="2121408"/>
            <a:ext cx="384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C9A84C"/>
                </a:solidFill>
                <a:latin typeface="Calibri"/>
              </a:rPr>
              <a:t>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11296" y="1874519"/>
            <a:ext cx="2395728" cy="10515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A1F5E"/>
                </a:solidFill>
                <a:latin typeface="Calibri"/>
              </a:rPr>
              <a:t>Allowed scope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178"/>
                </a:solidFill>
                <a:latin typeface="Calibri"/>
              </a:rPr>
              <a:t>role grants +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178"/>
                </a:solidFill>
                <a:latin typeface="Calibri"/>
              </a:rPr>
              <a:t>per-staff overrides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8464" y="2121408"/>
            <a:ext cx="384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C9A84C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28232" y="1874519"/>
            <a:ext cx="2395728" cy="1051560"/>
          </a:xfrm>
          <a:prstGeom prst="roundRect">
            <a:avLst/>
          </a:prstGeom>
          <a:solidFill>
            <a:srgbClr val="F2E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A1F5E"/>
                </a:solidFill>
                <a:latin typeface="Calibri"/>
              </a:rPr>
              <a:t>Effective scope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178"/>
                </a:solidFill>
                <a:latin typeface="Calibri"/>
              </a:rPr>
              <a:t>data visibility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178"/>
                </a:solidFill>
                <a:latin typeface="Calibri"/>
              </a:rPr>
              <a:t>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2121408"/>
            <a:ext cx="384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C9A84C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45168" y="1874519"/>
            <a:ext cx="2395728" cy="1051560"/>
          </a:xfrm>
          <a:prstGeom prst="roundRect">
            <a:avLst/>
          </a:prstGeom>
          <a:solidFill>
            <a:srgbClr val="1A1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Permission check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D5DBEF"/>
                </a:solidFill>
                <a:latin typeface="Calibri"/>
              </a:rPr>
              <a:t>module.resource.action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1097280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•  Two scope axes.</a:t>
            </a:r>
            <a:r>
              <a:rPr sz="1350">
                <a:solidFill>
                  <a:srgbClr val="232638"/>
                </a:solidFill>
                <a:latin typeface="Calibri"/>
              </a:rPr>
              <a:t> Structural (University → Faculty → Department → Program → Level) and temporal (Academic Year → Semester); every request is evaluated inside their intersection.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•  Canonical permissions.</a:t>
            </a:r>
            <a:r>
              <a:rPr sz="1350">
                <a:solidFill>
                  <a:srgbClr val="232638"/>
                </a:solidFill>
                <a:latin typeface="Calibri"/>
              </a:rPr>
              <a:t> Names follow module.resource.action (e.g. courses.courses.View); each module declares its catalog in a code-defined permission manifest synchronized to the database at startup.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•  Implication graph.</a:t>
            </a:r>
            <a:r>
              <a:rPr sz="1350">
                <a:solidFill>
                  <a:srgbClr val="232638"/>
                </a:solidFill>
                <a:latin typeface="Calibri"/>
              </a:rPr>
              <a:t> Action hierarchies (Edit implies View) are expanded at write time, making runtime checks a single O(1) lookup.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•  Caching.</a:t>
            </a:r>
            <a:r>
              <a:rPr sz="1350">
                <a:solidFill>
                  <a:srgbClr val="232638"/>
                </a:solidFill>
                <a:latin typeface="Calibri"/>
              </a:rPr>
              <a:t> Permission sets are cached in Redis and invalidated when roles or overrides change.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•  Enforced by tests.</a:t>
            </a:r>
            <a:r>
              <a:rPr sz="1350">
                <a:solidFill>
                  <a:srgbClr val="232638"/>
                </a:solidFill>
                <a:latin typeface="Calibri"/>
              </a:rPr>
              <a:t> A contract test verifies every [HasPermission] attribute references a declared constant — no orphan permissions.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·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Data Model: Recursive Academic Hierarchy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783080"/>
            <a:ext cx="2651760" cy="566928"/>
          </a:xfrm>
          <a:prstGeom prst="roundRect">
            <a:avLst/>
          </a:prstGeom>
          <a:solidFill>
            <a:srgbClr val="1A1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University</a:t>
            </a:r>
          </a:p>
        </p:txBody>
      </p:sp>
      <p:sp>
        <p:nvSpPr>
          <p:cNvPr id="4" name="Down Arrow 3"/>
          <p:cNvSpPr/>
          <p:nvPr/>
        </p:nvSpPr>
        <p:spPr>
          <a:xfrm>
            <a:off x="2414016" y="2368296"/>
            <a:ext cx="237744" cy="146304"/>
          </a:xfrm>
          <a:prstGeom prst="downArrow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07008" y="2551176"/>
            <a:ext cx="2651760" cy="56692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A1F5E"/>
                </a:solidFill>
                <a:latin typeface="Calibri"/>
              </a:rPr>
              <a:t>Faculty</a:t>
            </a:r>
          </a:p>
        </p:txBody>
      </p:sp>
      <p:sp>
        <p:nvSpPr>
          <p:cNvPr id="6" name="Down Arrow 5"/>
          <p:cNvSpPr/>
          <p:nvPr/>
        </p:nvSpPr>
        <p:spPr>
          <a:xfrm>
            <a:off x="2798064" y="3136392"/>
            <a:ext cx="237744" cy="146304"/>
          </a:xfrm>
          <a:prstGeom prst="downArrow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91056" y="3319272"/>
            <a:ext cx="2651760" cy="56692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A1F5E"/>
                </a:solidFill>
                <a:latin typeface="Calibri"/>
              </a:rPr>
              <a:t>Department</a:t>
            </a:r>
          </a:p>
        </p:txBody>
      </p:sp>
      <p:sp>
        <p:nvSpPr>
          <p:cNvPr id="8" name="Down Arrow 7"/>
          <p:cNvSpPr/>
          <p:nvPr/>
        </p:nvSpPr>
        <p:spPr>
          <a:xfrm>
            <a:off x="3182112" y="3904488"/>
            <a:ext cx="237744" cy="146304"/>
          </a:xfrm>
          <a:prstGeom prst="downArrow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75104" y="4087368"/>
            <a:ext cx="2651760" cy="56692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A1F5E"/>
                </a:solidFill>
                <a:latin typeface="Calibri"/>
              </a:rPr>
              <a:t>Program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566160" y="4672584"/>
            <a:ext cx="237744" cy="146304"/>
          </a:xfrm>
          <a:prstGeom prst="downArrow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59152" y="4855464"/>
            <a:ext cx="2651760" cy="56692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A1F5E"/>
                </a:solidFill>
                <a:latin typeface="Calibri"/>
              </a:rPr>
              <a:t>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1500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C6178"/>
                </a:solidFill>
                <a:latin typeface="Calibri"/>
              </a:rPr>
              <a:t>One recursive entity — StructureNode — models the entire tree.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828800"/>
            <a:ext cx="58064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100"/>
              </a:spcAft>
            </a:pPr>
            <a:r>
              <a:rPr sz="1400" b="1">
                <a:solidFill>
                  <a:srgbClr val="232638"/>
                </a:solidFill>
                <a:latin typeface="Calibri"/>
              </a:rPr>
              <a:t>•  Single-table hierarchy.</a:t>
            </a:r>
            <a:r>
              <a:rPr sz="1400">
                <a:solidFill>
                  <a:srgbClr val="232638"/>
                </a:solidFill>
                <a:latin typeface="Calibri"/>
              </a:rPr>
              <a:t> All organizational levels are rows of one self-referencing StructureNode entity rather than separate Faculty/Department/Program tables.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232638"/>
                </a:solidFill>
                <a:latin typeface="Calibri"/>
              </a:rPr>
              <a:t>•  Materialized path + depth.</a:t>
            </a:r>
            <a:r>
              <a:rPr sz="1400">
                <a:solidFill>
                  <a:srgbClr val="232638"/>
                </a:solidFill>
                <a:latin typeface="Calibri"/>
              </a:rPr>
              <a:t> Each node stores its full ancestor path, so subtree, ancestor, and descendant queries resolve with a prefix match — no recursive SQL at read time.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232638"/>
                </a:solidFill>
                <a:latin typeface="Calibri"/>
              </a:rPr>
              <a:t>•  Typed children.</a:t>
            </a:r>
            <a:r>
              <a:rPr sz="1400">
                <a:solidFill>
                  <a:srgbClr val="232638"/>
                </a:solidFill>
                <a:latin typeface="Calibri"/>
              </a:rPr>
              <a:t> Structure rules constrain which node types may nest under which (e.g. a Program cannot contain a Faculty).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232638"/>
                </a:solidFill>
                <a:latin typeface="Calibri"/>
              </a:rPr>
              <a:t>•  Soft delete.</a:t>
            </a:r>
            <a:r>
              <a:rPr sz="1400">
                <a:solidFill>
                  <a:srgbClr val="232638"/>
                </a:solidFill>
                <a:latin typeface="Calibri"/>
              </a:rPr>
              <a:t> Deletion marks the subtree by path prefix; EF Core global query filters hide deleted and inactive rows everywhere.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232638"/>
                </a:solidFill>
                <a:latin typeface="Calibri"/>
              </a:rPr>
              <a:t>•  Safe restructuring.</a:t>
            </a:r>
            <a:r>
              <a:rPr sz="1400">
                <a:solidFill>
                  <a:srgbClr val="232638"/>
                </a:solidFill>
                <a:latin typeface="Calibri"/>
              </a:rPr>
              <a:t> Moving or reordering a node rewrites paths and depths for its whole subtree atomically.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Synchronization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2103120"/>
            <a:ext cx="2743200" cy="1554480"/>
          </a:xfrm>
          <a:prstGeom prst="roundRect">
            <a:avLst/>
          </a:prstGeom>
          <a:solidFill>
            <a:srgbClr val="1A1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External SIS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D5DBEF"/>
                </a:solidFill>
                <a:latin typeface="Calibri"/>
              </a:rPr>
              <a:t>students · staff · courses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D5DBEF"/>
                </a:solidFill>
                <a:latin typeface="Calibri"/>
              </a:rPr>
              <a:t>schedules · finance</a:t>
            </a:r>
          </a:p>
        </p:txBody>
      </p:sp>
      <p:sp>
        <p:nvSpPr>
          <p:cNvPr id="4" name="Left-Right Arrow 3"/>
          <p:cNvSpPr/>
          <p:nvPr/>
        </p:nvSpPr>
        <p:spPr>
          <a:xfrm>
            <a:off x="3566160" y="2743200"/>
            <a:ext cx="640080" cy="274320"/>
          </a:xfrm>
          <a:prstGeom prst="leftRightArrow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1874519"/>
            <a:ext cx="3520440" cy="2011680"/>
          </a:xfrm>
          <a:prstGeom prst="round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1442"/>
                </a:solidFill>
                <a:latin typeface="Calibri"/>
              </a:rPr>
              <a:t>Sync Engine (Hangfire)</a:t>
            </a:r>
          </a:p>
          <a:p>
            <a:pPr algn="ctr">
              <a:spcAft>
                <a:spcPts val="200"/>
              </a:spcAft>
            </a:pPr>
            <a:r>
              <a:rPr sz="1150" b="0">
                <a:solidFill>
                  <a:srgbClr val="101442"/>
                </a:solidFill>
                <a:latin typeface="Calibri"/>
              </a:rPr>
              <a:t>Students · Staff · Courses</a:t>
            </a:r>
          </a:p>
          <a:p>
            <a:pPr algn="ctr">
              <a:spcAft>
                <a:spcPts val="200"/>
              </a:spcAft>
            </a:pPr>
            <a:r>
              <a:rPr sz="1150" b="0">
                <a:solidFill>
                  <a:srgbClr val="101442"/>
                </a:solidFill>
                <a:latin typeface="Calibri"/>
              </a:rPr>
              <a:t>Schedules · Finance · Registration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1A1F5E"/>
                </a:solidFill>
                <a:latin typeface="Calibri"/>
              </a:rPr>
              <a:t>one ISyncModule per domain</a:t>
            </a:r>
          </a:p>
        </p:txBody>
      </p:sp>
      <p:sp>
        <p:nvSpPr>
          <p:cNvPr id="6" name="Left-Right Arrow 5"/>
          <p:cNvSpPr/>
          <p:nvPr/>
        </p:nvSpPr>
        <p:spPr>
          <a:xfrm>
            <a:off x="8001000" y="2743200"/>
            <a:ext cx="640080" cy="274320"/>
          </a:xfrm>
          <a:prstGeom prst="leftRightArrow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78240" y="2103120"/>
            <a:ext cx="2743200" cy="1554480"/>
          </a:xfrm>
          <a:prstGeom prst="roundRect">
            <a:avLst/>
          </a:prstGeom>
          <a:solidFill>
            <a:srgbClr val="1A1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Portal Database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D5DBEF"/>
                </a:solidFill>
                <a:latin typeface="Calibri"/>
              </a:rPr>
              <a:t>SQL Server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D5DBEF"/>
                </a:solidFill>
                <a:latin typeface="Calibri"/>
              </a:rPr>
              <a:t>portal-owned + SIS-owned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4340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•  Ownership map.</a:t>
            </a:r>
            <a:r>
              <a:rPr sz="1350">
                <a:solidFill>
                  <a:srgbClr val="232638"/>
                </a:solidFill>
                <a:latin typeface="Calibri"/>
              </a:rPr>
              <a:t> Every synchronized record carries an external identifier; each entity type has a declared owner, so pulls update without overwriting portal-owned fields.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•  Resilience.</a:t>
            </a:r>
            <a:r>
              <a:rPr sz="1350">
                <a:solidFill>
                  <a:srgbClr val="232638"/>
                </a:solidFill>
                <a:latin typeface="Calibri"/>
              </a:rPr>
              <a:t> Checkpoint store prevents duplicate processing; failures retry with exponential backoff and surface in a sync audit log.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•  Scheduling.</a:t>
            </a:r>
            <a:r>
              <a:rPr sz="1350">
                <a:solidFill>
                  <a:srgbClr val="232638"/>
                </a:solidFill>
                <a:latin typeface="Calibri"/>
              </a:rPr>
              <a:t> Hangfire runs pull and push jobs per module on configurable schedules, with run history and failure notifications.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Frontend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783080"/>
            <a:ext cx="630936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•  Modular SPA.</a:t>
            </a:r>
            <a:r>
              <a:rPr sz="1350">
                <a:solidFill>
                  <a:srgbClr val="232638"/>
                </a:solidFill>
                <a:latin typeface="Calibri"/>
              </a:rPr>
              <a:t> React 19 + Vite; each feature is a self-contained module exporting pages, routes, navigation entries, and locale files.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•  Manifest-driven routing.</a:t>
            </a:r>
            <a:r>
              <a:rPr sz="1350">
                <a:solidFill>
                  <a:srgbClr val="232638"/>
                </a:solidFill>
                <a:latin typeface="Calibri"/>
              </a:rPr>
              <a:t> A route registry aggregates module manifests — routes, breadcrumbs, lazy loading, and menus are derived from metadata, mirroring the backend's plug-in design.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•  Server state.</a:t>
            </a:r>
            <a:r>
              <a:rPr sz="1350">
                <a:solidFill>
                  <a:srgbClr val="232638"/>
                </a:solidFill>
                <a:latin typeface="Calibri"/>
              </a:rPr>
              <a:t> TanStack Query caches API data with scope-aware query keys; mutations invalidate precisely.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•  Scope propagation.</a:t>
            </a:r>
            <a:r>
              <a:rPr sz="1350">
                <a:solidFill>
                  <a:srgbClr val="232638"/>
                </a:solidFill>
                <a:latin typeface="Calibri"/>
              </a:rPr>
              <a:t> An Axios interceptor attaches the JWT and the selected structure/year/semester headers to every request, matching the backend's effective-scope resolution.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•  Permission gating.</a:t>
            </a:r>
            <a:r>
              <a:rPr sz="1350">
                <a:solidFill>
                  <a:srgbClr val="232638"/>
                </a:solidFill>
                <a:latin typeface="Calibri"/>
              </a:rPr>
              <a:t> A PermissionContext drives route guards, menu filtering, and per-action UI gates from the same permission names used server-side.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•  Internationalization.</a:t>
            </a:r>
            <a:r>
              <a:rPr sz="1350">
                <a:solidFill>
                  <a:srgbClr val="232638"/>
                </a:solidFill>
                <a:latin typeface="Calibri"/>
              </a:rPr>
              <a:t> i18next with Arabic and English bundles; RTL handled via CSS logical properties and design tokens.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828800"/>
            <a:ext cx="4114800" cy="91440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A1F5E"/>
                </a:solidFill>
                <a:latin typeface="Cambria"/>
              </a:rPr>
              <a:t>17  </a:t>
            </a:r>
          </a:p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C6178"/>
                </a:solidFill>
                <a:latin typeface="Calibri"/>
              </a:rPr>
              <a:t>feature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2898648"/>
            <a:ext cx="4114800" cy="91440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A1F5E"/>
                </a:solidFill>
                <a:latin typeface="Cambria"/>
              </a:rPr>
              <a:t>27  </a:t>
            </a:r>
          </a:p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C6178"/>
                </a:solidFill>
                <a:latin typeface="Calibri"/>
              </a:rPr>
              <a:t>routed pages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3968496"/>
            <a:ext cx="4114800" cy="91440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A1F5E"/>
                </a:solidFill>
                <a:latin typeface="Cambria"/>
              </a:rPr>
              <a:t>21  </a:t>
            </a:r>
          </a:p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C6178"/>
                </a:solidFill>
                <a:latin typeface="Calibri"/>
              </a:rPr>
              <a:t>API service clients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5038344"/>
            <a:ext cx="4114800" cy="91440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A1F5E"/>
                </a:solidFill>
                <a:latin typeface="Cambria"/>
              </a:rPr>
              <a:t>24  </a:t>
            </a:r>
          </a:p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C6178"/>
                </a:solidFill>
                <a:latin typeface="Calibri"/>
              </a:rPr>
              <a:t>locale bundles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Implementation 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783080"/>
            <a:ext cx="5486400" cy="434340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49377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1F5E"/>
                </a:solidFill>
                <a:latin typeface="Calibri"/>
              </a:rPr>
              <a:t>Engineering practices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32638"/>
                </a:solidFill>
                <a:latin typeface="Calibri"/>
              </a:rPr>
              <a:t>•  CQRS with MediatR — commands and queries as discrete handlers behind validation and authorization behaviors.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32638"/>
                </a:solidFill>
                <a:latin typeface="Calibri"/>
              </a:rPr>
              <a:t>•  FluentValidation on every command; zod schemas mirror validation client-side.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32638"/>
                </a:solidFill>
                <a:latin typeface="Calibri"/>
              </a:rPr>
              <a:t>•  Redis-backed caching for permissions and structure reads, with explicit invalidation triggers.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32638"/>
                </a:solidFill>
                <a:latin typeface="Calibri"/>
              </a:rPr>
              <a:t>•  QuestPDF renders bilingual transcripts and receipts server-side.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32638"/>
                </a:solidFill>
                <a:latin typeface="Calibri"/>
              </a:rPr>
              <a:t>•  Prerequisite graphs validated as DAGs with cycle detection on both client and server.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783080"/>
            <a:ext cx="5166360" cy="434340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2011680"/>
            <a:ext cx="461772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1F5E"/>
                </a:solidFill>
                <a:latin typeface="Calibri"/>
              </a:rPr>
              <a:t>Development process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32638"/>
                </a:solidFill>
                <a:latin typeface="Calibri"/>
              </a:rPr>
              <a:t>•  Specification-first: a master specification and per-domain documents preceded implementation.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32638"/>
                </a:solidFill>
                <a:latin typeface="Calibri"/>
              </a:rPr>
              <a:t>•  Iterative sprints per portal area, each ending with an audit-and-fix pass against the specification.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32638"/>
                </a:solidFill>
                <a:latin typeface="Calibri"/>
              </a:rPr>
              <a:t>•  Layered data seeding — identity, structure, calendar, and a large-volume seeder that populates both portals for realistic evaluation.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32638"/>
                </a:solidFill>
                <a:latin typeface="Calibri"/>
              </a:rPr>
              <a:t>•  Production-readiness audit covering security hardening, password policy, and admin provisioning.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Feature Overview — Administrative Portal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828800"/>
            <a:ext cx="3611880" cy="2011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01442"/>
                </a:solidFill>
                <a:latin typeface="Calibri"/>
              </a:rPr>
              <a:t>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31546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University structure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Tree editor for faculties, departments, programs, and levels with drag re-ordering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1" y="1828800"/>
            <a:ext cx="3611880" cy="2011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45151" y="205740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01442"/>
                </a:solidFill>
                <a:latin typeface="Calibri"/>
              </a:rPr>
              <a:t>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151" y="2697480"/>
            <a:ext cx="31546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Academic calendar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Year and semester lifecycle: create, open, close, archive — permission-gated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38742" y="1828800"/>
            <a:ext cx="3611880" cy="2011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67342" y="205740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01442"/>
                </a:solidFill>
                <a:latin typeface="Calibri"/>
              </a:rPr>
              <a:t>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7342" y="2697480"/>
            <a:ext cx="31546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Course catalog &amp; plans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Courses with credit hours and prerequisite chains; per-program academic plans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069080"/>
            <a:ext cx="3611880" cy="2011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01442"/>
                </a:solidFill>
                <a:latin typeface="Calibri"/>
              </a:rPr>
              <a:t>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37760"/>
            <a:ext cx="31546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Offerings &amp; scheduling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Section capacity, instructor assignment, and a scheduling matrix with conflict 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6551" y="4069080"/>
            <a:ext cx="3611880" cy="2011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45151" y="42976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01442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1" y="4937760"/>
            <a:ext cx="31546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Permissions &amp; roles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Permission-matrix editor with scoped grants and per-staff overrides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38742" y="4069080"/>
            <a:ext cx="3611880" cy="2011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67342" y="42976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01442"/>
                </a:solidFill>
                <a:latin typeface="Calibri"/>
              </a:rPr>
              <a:t>$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2" y="4937760"/>
            <a:ext cx="31546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Treasury &amp; orders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Fee orders, payment tracking, and receipt reconciliation against the treasury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Feature Overview — Student Portal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828800"/>
            <a:ext cx="3611880" cy="2011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01442"/>
                </a:solidFill>
                <a:latin typeface="Calibri"/>
              </a:rPr>
              <a:t>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31546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Dashboard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Academic snapshot: GPA, credit progress, current registrations, and announcements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1" y="1828800"/>
            <a:ext cx="3611880" cy="2011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45151" y="205740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01442"/>
                </a:solidFill>
                <a:latin typeface="Calibri"/>
              </a:rPr>
              <a:t>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151" y="2697480"/>
            <a:ext cx="31546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Course registration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Self-service enrollment with registration windows, capacity, and prerequisite checks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38742" y="1828800"/>
            <a:ext cx="3611880" cy="2011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67342" y="205740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01442"/>
                </a:solidFill>
                <a:latin typeface="Calibri"/>
              </a:rPr>
              <a:t>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7342" y="2697480"/>
            <a:ext cx="31546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Weekly schedule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Personal timetable grid generated from enrolled course offerings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069080"/>
            <a:ext cx="3611880" cy="2011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01442"/>
                </a:solidFill>
                <a:latin typeface="Calibri"/>
              </a:rPr>
              <a:t>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37760"/>
            <a:ext cx="31546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Grades &amp; transcript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Term-by-term grades, GPA/CGPA, and downloadable bilingual PDF transcript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6551" y="4069080"/>
            <a:ext cx="3611880" cy="2011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45151" y="42976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01442"/>
                </a:solidFill>
                <a:latin typeface="Calibri"/>
              </a:rPr>
              <a:t>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1" y="4937760"/>
            <a:ext cx="31546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Service requests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Catalog of services with dynamic forms and staged approval workflows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38742" y="4069080"/>
            <a:ext cx="3611880" cy="2011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67342" y="42976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01442"/>
                </a:solidFill>
                <a:latin typeface="Calibri"/>
              </a:rPr>
              <a:t>$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2" y="4937760"/>
            <a:ext cx="31546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Fees &amp; payments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178"/>
                </a:solidFill>
                <a:latin typeface="Calibri"/>
              </a:rPr>
              <a:t>Outstanding fees grouped into orders, paid online via gateway with webhook confirmation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7 · DEMONSTRATION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Administration &amp; Security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828800"/>
            <a:ext cx="6035040" cy="4206240"/>
          </a:xfrm>
          <a:prstGeom prst="roundRect">
            <a:avLst/>
          </a:prstGeom>
          <a:solidFill>
            <a:srgbClr val="EEF1FA"/>
          </a:solidFill>
          <a:ln w="15875">
            <a:solidFill>
              <a:srgbClr val="D5D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C9A84C"/>
                </a:solidFill>
                <a:latin typeface="Calibri"/>
              </a:rPr>
              <a:t>▶</a:t>
            </a:r>
          </a:p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A1F5E"/>
                </a:solidFill>
                <a:latin typeface="Calibri"/>
              </a:rPr>
              <a:t>Live demonstration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C6178"/>
                </a:solidFill>
                <a:latin typeface="Calibri"/>
              </a:rPr>
              <a:t>[ screen recording / live walkthrough placeholder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18288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F5E"/>
                </a:solidFill>
                <a:latin typeface="Calibri"/>
              </a:rPr>
              <a:t>Talking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2286000"/>
            <a:ext cx="466344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1.  Sign in as administrator on the staff portal.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2.  Open the university structure tree; add a department under a faculty.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3.  Open the permission matrix; grant a staff member a scoped permission limited to that faculty and the current semester.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4.  Sign in as that staff member — data outside the granted scope is invisible, and unauthorized actions are absent from the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5349240"/>
            <a:ext cx="4663440" cy="868680"/>
          </a:xfrm>
          <a:prstGeom prst="roundRect">
            <a:avLst/>
          </a:prstGeom>
          <a:solidFill>
            <a:srgbClr val="F2E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A1F5E"/>
                </a:solidFill>
                <a:latin typeface="Calibri"/>
              </a:rPr>
              <a:t>What this shows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232638"/>
                </a:solidFill>
                <a:latin typeface="Calibri"/>
              </a:rPr>
              <a:t>Scope-first authorization working end-to-end: grants made in the matrix immediately reshape both API responses and the interface.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7 · DEMONSTRATION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Academic Operations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828800"/>
            <a:ext cx="6035040" cy="4206240"/>
          </a:xfrm>
          <a:prstGeom prst="roundRect">
            <a:avLst/>
          </a:prstGeom>
          <a:solidFill>
            <a:srgbClr val="EEF1FA"/>
          </a:solidFill>
          <a:ln w="15875">
            <a:solidFill>
              <a:srgbClr val="D5D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C9A84C"/>
                </a:solidFill>
                <a:latin typeface="Calibri"/>
              </a:rPr>
              <a:t>▶</a:t>
            </a:r>
          </a:p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A1F5E"/>
                </a:solidFill>
                <a:latin typeface="Calibri"/>
              </a:rPr>
              <a:t>Live demonstration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C6178"/>
                </a:solidFill>
                <a:latin typeface="Calibri"/>
              </a:rPr>
              <a:t>[ screen recording / live walkthrough placeholder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18288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F5E"/>
                </a:solidFill>
                <a:latin typeface="Calibri"/>
              </a:rPr>
              <a:t>Talking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2286000"/>
            <a:ext cx="466344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1.  Create a semester under the current academic year and open it.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2.  Add a course with a prerequisite; attempt a circular prerequisite and show the cycle being rejected.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3.  Create a course offering, assign an instructor and capacity.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4.  Use the scheduling matrix to place meeting slots; trigger and resolve an instructor double-booking warning.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5349240"/>
            <a:ext cx="4663440" cy="868680"/>
          </a:xfrm>
          <a:prstGeom prst="roundRect">
            <a:avLst/>
          </a:prstGeom>
          <a:solidFill>
            <a:srgbClr val="F2E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A1F5E"/>
                </a:solidFill>
                <a:latin typeface="Calibri"/>
              </a:rPr>
              <a:t>What this shows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232638"/>
                </a:solidFill>
                <a:latin typeface="Calibri"/>
              </a:rPr>
              <a:t>Domain rules — calendar lifecycle, prerequisite DAG validation, and schedule conflict detection — enforced at the moment of entry.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·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7 · DEMONSTRATION 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Student Journey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828800"/>
            <a:ext cx="6035040" cy="4206240"/>
          </a:xfrm>
          <a:prstGeom prst="roundRect">
            <a:avLst/>
          </a:prstGeom>
          <a:solidFill>
            <a:srgbClr val="EEF1FA"/>
          </a:solidFill>
          <a:ln w="15875">
            <a:solidFill>
              <a:srgbClr val="D5D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C9A84C"/>
                </a:solidFill>
                <a:latin typeface="Calibri"/>
              </a:rPr>
              <a:t>▶</a:t>
            </a:r>
          </a:p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A1F5E"/>
                </a:solidFill>
                <a:latin typeface="Calibri"/>
              </a:rPr>
              <a:t>Live demonstration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C6178"/>
                </a:solidFill>
                <a:latin typeface="Calibri"/>
              </a:rPr>
              <a:t>[ screen recording / live walkthrough placeholder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18288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F5E"/>
                </a:solidFill>
                <a:latin typeface="Calibri"/>
              </a:rPr>
              <a:t>Talking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2286000"/>
            <a:ext cx="466344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1.  Sign in as a student; review the dashboard's GPA and credit summary.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2.  Open course registration; register for an offering and watch remaining capacity update.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3.  View the generated weekly schedule grid.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4.  Open grades; switch the interface to Arabic to show the RTL layout; download the bilingual PDF transcript.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5349240"/>
            <a:ext cx="4663440" cy="868680"/>
          </a:xfrm>
          <a:prstGeom prst="roundRect">
            <a:avLst/>
          </a:prstGeom>
          <a:solidFill>
            <a:srgbClr val="F2E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A1F5E"/>
                </a:solidFill>
                <a:latin typeface="Calibri"/>
              </a:rPr>
              <a:t>What this shows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232638"/>
                </a:solidFill>
                <a:latin typeface="Calibri"/>
              </a:rPr>
              <a:t>The complete self-service student loop — registration through transcript — in both languages from one data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·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7 · DEMONSTRATION 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Services, Fees &amp; Payments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828800"/>
            <a:ext cx="6035040" cy="4206240"/>
          </a:xfrm>
          <a:prstGeom prst="roundRect">
            <a:avLst/>
          </a:prstGeom>
          <a:solidFill>
            <a:srgbClr val="EEF1FA"/>
          </a:solidFill>
          <a:ln w="15875">
            <a:solidFill>
              <a:srgbClr val="D5D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C9A84C"/>
                </a:solidFill>
                <a:latin typeface="Calibri"/>
              </a:rPr>
              <a:t>▶</a:t>
            </a:r>
          </a:p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A1F5E"/>
                </a:solidFill>
                <a:latin typeface="Calibri"/>
              </a:rPr>
              <a:t>Live demonstration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C6178"/>
                </a:solidFill>
                <a:latin typeface="Calibri"/>
              </a:rPr>
              <a:t>[ screen recording / live walkthrough placeholder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18288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F5E"/>
                </a:solidFill>
                <a:latin typeface="Calibri"/>
              </a:rPr>
              <a:t>Talking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2286000"/>
            <a:ext cx="466344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1.  As a student, submit a service request (e.g. official transcript) through its dynamically defined form.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2.  As staff, review and approve the request in its workflow stage.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3.  Show the fee generated by approval, grouped into a payment order.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32638"/>
                </a:solidFill>
                <a:latin typeface="Calibri"/>
              </a:rPr>
              <a:t>4.  Complete payment via the gateway sandbox; the webhook confirms the order and a receipt and notification appear.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5349240"/>
            <a:ext cx="4663440" cy="868680"/>
          </a:xfrm>
          <a:prstGeom prst="roundRect">
            <a:avLst/>
          </a:prstGeom>
          <a:solidFill>
            <a:srgbClr val="F2E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A1F5E"/>
                </a:solidFill>
                <a:latin typeface="Calibri"/>
              </a:rPr>
              <a:t>What this shows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232638"/>
                </a:solidFill>
                <a:latin typeface="Calibri"/>
              </a:rPr>
              <a:t>Administrative workflow, financial integration, and asynchronous webhook handling cooperating across both portals.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·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Testing &amp; Quality Assurance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828800"/>
            <a:ext cx="361188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29968"/>
            <a:ext cx="31546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Unit tests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178"/>
                </a:solidFill>
                <a:latin typeface="Calibri"/>
              </a:rPr>
              <a:t>Domain logic and application handlers: authentication, authorization, courses, schedules, payments, localization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6551" y="1828800"/>
            <a:ext cx="361188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45151" y="2029968"/>
            <a:ext cx="31546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Integration tests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178"/>
                </a:solidFill>
                <a:latin typeface="Calibri"/>
              </a:rPr>
              <a:t>Database behavior through EF Core and external service interaction against stubs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38742" y="1828800"/>
            <a:ext cx="361188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67342" y="2029968"/>
            <a:ext cx="31546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Architecture tests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178"/>
                </a:solidFill>
                <a:latin typeface="Calibri"/>
              </a:rPr>
              <a:t>Automated dependency rules — layer boundaries of the modular monolith are asserted in CI, not by convention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023360"/>
            <a:ext cx="361188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224528"/>
            <a:ext cx="31546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Contract tests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178"/>
                </a:solidFill>
                <a:latin typeface="Calibri"/>
              </a:rPr>
              <a:t>Every [HasPermission] attribute must reference a declared permission constant; manifests stay complete by construction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1" y="4023360"/>
            <a:ext cx="361188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1" y="4224528"/>
            <a:ext cx="31546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Sync platform tests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178"/>
                </a:solidFill>
                <a:latin typeface="Calibri"/>
              </a:rPr>
              <a:t>Checkpoint handling, retry behavior, and module push/pull logic of the synchronization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38742" y="4023360"/>
            <a:ext cx="361188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67342" y="4224528"/>
            <a:ext cx="31546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A1F5E"/>
                </a:solidFill>
                <a:latin typeface="Calibri"/>
              </a:rPr>
              <a:t>Frontend harness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178"/>
                </a:solidFill>
                <a:latin typeface="Calibri"/>
              </a:rPr>
              <a:t>Vitest + Testing Library setup for component tests; coverage growing alongside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Results &amp; System Scale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828800"/>
            <a:ext cx="3611880" cy="17373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4800" b="1">
                <a:solidFill>
                  <a:srgbClr val="1A1F5E"/>
                </a:solidFill>
                <a:latin typeface="Cambria"/>
              </a:rPr>
              <a:t>30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backend projects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178"/>
                </a:solidFill>
                <a:latin typeface="Calibri"/>
              </a:rPr>
              <a:t>across API, core, modules, sync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16551" y="1828800"/>
            <a:ext cx="3611880" cy="17373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4800" b="1">
                <a:solidFill>
                  <a:srgbClr val="1A1F5E"/>
                </a:solidFill>
                <a:latin typeface="Cambria"/>
              </a:rPr>
              <a:t>28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REST controllers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178"/>
                </a:solidFill>
                <a:latin typeface="Calibri"/>
              </a:rPr>
              <a:t>covering every domain 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38742" y="1828800"/>
            <a:ext cx="3611880" cy="17373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4800" b="1">
                <a:solidFill>
                  <a:srgbClr val="1A1F5E"/>
                </a:solidFill>
                <a:latin typeface="Cambria"/>
              </a:rPr>
              <a:t>7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plug-in modules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178"/>
                </a:solidFill>
                <a:latin typeface="Calibri"/>
              </a:rPr>
              <a:t>with isolated permissions &amp; persistence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794760"/>
            <a:ext cx="3611880" cy="17373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4800" b="1">
                <a:solidFill>
                  <a:srgbClr val="1A1F5E"/>
                </a:solidFill>
                <a:latin typeface="Cambria"/>
              </a:rPr>
              <a:t>17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frontend modules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178"/>
                </a:solidFill>
                <a:latin typeface="Calibri"/>
              </a:rPr>
              <a:t>aggregated by route manifests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1" y="3794760"/>
            <a:ext cx="3611880" cy="17373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4800" b="1">
                <a:solidFill>
                  <a:srgbClr val="1A1F5E"/>
                </a:solidFill>
                <a:latin typeface="Cambria"/>
              </a:rPr>
              <a:t>27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routed pages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178"/>
                </a:solidFill>
                <a:latin typeface="Calibri"/>
              </a:rPr>
              <a:t>across both portals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38742" y="3794760"/>
            <a:ext cx="3611880" cy="17373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4800" b="1">
                <a:solidFill>
                  <a:srgbClr val="1A1F5E"/>
                </a:solidFill>
                <a:latin typeface="Cambria"/>
              </a:rPr>
              <a:t>6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232638"/>
                </a:solidFill>
                <a:latin typeface="Calibri"/>
              </a:rPr>
              <a:t>test suites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178"/>
                </a:solidFill>
                <a:latin typeface="Calibri"/>
              </a:rPr>
              <a:t>incl. architecture &amp; contract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C6178"/>
                </a:solidFill>
                <a:latin typeface="Calibri"/>
              </a:rPr>
              <a:t>Both portals run against a large seeded dataset — students, registrations, grades, fees, and requests — demonstrating realistic end-to-end operation.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A1F5E"/>
                </a:solidFill>
                <a:latin typeface="Cambria"/>
              </a:rPr>
              <a:t>Limitations &amp; Future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783080"/>
            <a:ext cx="5486400" cy="434340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49377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1F5E"/>
                </a:solidFill>
                <a:latin typeface="Calibri"/>
              </a:rPr>
              <a:t>Current limitations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•  Single deployable: modules are isolated logically but share one process and database.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•  Academic-records synchronization from the SIS is partially implemented relative to other sync modules.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•  Frontend automated test coverage is thin compared with the backend.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•  Notification delivery is in-app only; e-mail/SMS channels are designed but not wired to providers.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783080"/>
            <a:ext cx="5166360" cy="4343400"/>
          </a:xfrm>
          <a:prstGeom prst="roundRect">
            <a:avLst/>
          </a:prstGeom>
          <a:solidFill>
            <a:srgbClr val="F2E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2011680"/>
            <a:ext cx="461772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1F5E"/>
                </a:solidFill>
                <a:latin typeface="Calibri"/>
              </a:rPr>
              <a:t>Future work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•  Extract high-load modules (registration, payments) into services when scale demands — the module boundaries already exist.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•  Mobile application reusing the REST API and permission model.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•  Analytics dashboards over the accumulated academic data.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•  Single sign-on integration with institutional identity providers.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232638"/>
                </a:solidFill>
                <a:latin typeface="Calibri"/>
              </a:rPr>
              <a:t>•  Container orchestration and CI/CD pipeline for automated delivery.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178"/>
                </a:solidFill>
                <a:latin typeface="Calibri"/>
              </a:rPr>
              <a:t>Capital University Student Portal  ·  Graduation Project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A84C"/>
                </a:solidFill>
                <a:latin typeface="Calibri"/>
              </a:rPr>
              <a:t>SECTION 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Cambria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92024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•  A working platform.</a:t>
            </a:r>
            <a:r>
              <a:rPr sz="1600">
                <a:solidFill>
                  <a:srgbClr val="FFFFFF"/>
                </a:solidFill>
                <a:latin typeface="Calibri"/>
              </a:rPr>
              <a:t> The project delivers a bilingual, dual-portal university system covering structure, calendar, courses, registration, grades, services, and payments end-to-end.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•  An architectural argument.</a:t>
            </a:r>
            <a:r>
              <a:rPr sz="1600">
                <a:solidFill>
                  <a:srgbClr val="FFFFFF"/>
                </a:solidFill>
                <a:latin typeface="Calibri"/>
              </a:rPr>
              <a:t> A modular monolith with plug-in modules, manifest-declared permissions, and architecture tests achieves service-style boundaries at monolith operational cost.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•  A security contribution.</a:t>
            </a:r>
            <a:r>
              <a:rPr sz="1600">
                <a:solidFill>
                  <a:srgbClr val="FFFFFF"/>
                </a:solidFill>
                <a:latin typeface="Calibri"/>
              </a:rPr>
              <a:t> Scope-first authorization — intersecting structural and temporal scope before permission evaluation — expresses real university delegation patterns that plain RBAC cannot.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•  A pragmatic integration.</a:t>
            </a:r>
            <a:r>
              <a:rPr sz="1600">
                <a:solidFill>
                  <a:srgbClr val="FFFFFF"/>
                </a:solidFill>
                <a:latin typeface="Calibri"/>
              </a:rPr>
              <a:t> Checkpointed, audited bidirectional synchronization lets the portal coexist with the institutional SIS instead of demanding its replacement.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D5DBEF"/>
                </a:solidFill>
                <a:latin typeface="Calibri"/>
              </a:rPr>
              <a:t>Capital University Student Portal  ·  Graduation Project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47664" y="1554480"/>
            <a:ext cx="1097280" cy="109728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01442"/>
                </a:solidFill>
                <a:latin typeface="Calibri"/>
              </a:rPr>
              <a:t>CU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017520"/>
            <a:ext cx="999439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4800" b="1" i="0">
                <a:solidFill>
                  <a:srgbClr val="FFFFFF"/>
                </a:solidFill>
                <a:latin typeface="Cambria"/>
              </a:rPr>
              <a:t>Thank You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0" i="1">
                <a:solidFill>
                  <a:srgbClr val="C9A84C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846320"/>
            <a:ext cx="9994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D5DBEF"/>
                </a:solidFill>
                <a:latin typeface="Calibri"/>
              </a:rPr>
              <a:t>Capital University Student Portal · Graduation Project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